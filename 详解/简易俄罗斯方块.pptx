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8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2" y="1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EE38-1BB9-1524-4F70-ADCABF12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D78CE-817B-1861-DFAE-56171E359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7A584-35FC-6B46-E40C-31D8E6E70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20B32-CA85-D38C-9A3A-5BEBF5AE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995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6FC31-E754-A225-6B4A-92119EBE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0D38D-9866-B02C-5834-CD783C423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DE181-8C33-6110-0FDE-27FCA8B75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7171E-DFBD-DE14-0590-116E3B9F8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829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2"/>
            <a:ext cx="2133600" cy="273844"/>
          </a:xfrm>
        </p:spPr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2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2"/>
            <a:ext cx="2133600" cy="273844"/>
          </a:xfrm>
        </p:spPr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11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1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11.png"/><Relationship Id="rId7" Type="http://schemas.openxmlformats.org/officeDocument/2006/relationships/image" Target="../media/image101.png"/><Relationship Id="rId12" Type="http://schemas.openxmlformats.org/officeDocument/2006/relationships/image" Target="../media/image30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8.png"/><Relationship Id="rId10" Type="http://schemas.openxmlformats.org/officeDocument/2006/relationships/image" Target="../media/image104.png"/><Relationship Id="rId19" Type="http://schemas.openxmlformats.org/officeDocument/2006/relationships/image" Target="../media/image112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7614" y="3255421"/>
            <a:ext cx="475793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 the face of an ever-changing job market, a well-thought-out career plan is the key to achieving personal growth and success.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7165" y="2801680"/>
            <a:ext cx="4078812" cy="2008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17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Java </a:t>
            </a:r>
            <a:r>
              <a:rPr lang="en-US" sz="1170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Swing经典游戏</a:t>
            </a:r>
            <a:endParaRPr lang="en-US" sz="1170" dirty="0"/>
          </a:p>
        </p:txBody>
      </p:sp>
      <p:sp>
        <p:nvSpPr>
          <p:cNvPr id="4" name="Text 2"/>
          <p:cNvSpPr/>
          <p:nvPr/>
        </p:nvSpPr>
        <p:spPr>
          <a:xfrm>
            <a:off x="781874" y="1640748"/>
            <a:ext cx="7589394" cy="92679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5400" dirty="0">
                <a:solidFill>
                  <a:srgbClr val="FDBF53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简易</a:t>
            </a:r>
            <a:r>
              <a:rPr lang="en-US" sz="5400" dirty="0" err="1">
                <a:solidFill>
                  <a:srgbClr val="FDBF53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俄罗斯方块</a:t>
            </a:r>
            <a:endParaRPr lang="en-US" sz="5400" dirty="0"/>
          </a:p>
        </p:txBody>
      </p:sp>
      <p:sp>
        <p:nvSpPr>
          <p:cNvPr id="10" name="流程图: 终止 9">
            <a:extLst>
              <a:ext uri="{FF2B5EF4-FFF2-40B4-BE49-F238E27FC236}">
                <a16:creationId xmlns:a16="http://schemas.microsoft.com/office/drawing/2014/main" id="{051BB358-196D-9E24-0404-EDE00A9BAAA9}"/>
              </a:ext>
            </a:extLst>
          </p:cNvPr>
          <p:cNvSpPr/>
          <p:nvPr/>
        </p:nvSpPr>
        <p:spPr>
          <a:xfrm>
            <a:off x="3131840" y="3795886"/>
            <a:ext cx="2808312" cy="36576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陈哲，李宁，罗嘉棋，戴哲源</a:t>
            </a:r>
          </a:p>
        </p:txBody>
      </p:sp>
      <p:sp>
        <p:nvSpPr>
          <p:cNvPr id="11" name="流程图: 终止 10">
            <a:extLst>
              <a:ext uri="{FF2B5EF4-FFF2-40B4-BE49-F238E27FC236}">
                <a16:creationId xmlns:a16="http://schemas.microsoft.com/office/drawing/2014/main" id="{3106D0DE-915A-ACC2-3AB6-4D6B95A47AD4}"/>
              </a:ext>
            </a:extLst>
          </p:cNvPr>
          <p:cNvSpPr/>
          <p:nvPr/>
        </p:nvSpPr>
        <p:spPr>
          <a:xfrm>
            <a:off x="3779912" y="4299942"/>
            <a:ext cx="1584176" cy="36576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2025</a:t>
            </a:r>
            <a:r>
              <a:rPr lang="zh-CN" altLang="en-US" dirty="0">
                <a:solidFill>
                  <a:schemeClr val="tx1"/>
                </a:solidFill>
              </a:rPr>
              <a:t>年</a:t>
            </a:r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月</a:t>
            </a:r>
            <a:r>
              <a:rPr lang="en-US" altLang="zh-CN" dirty="0">
                <a:solidFill>
                  <a:schemeClr val="tx1"/>
                </a:solidFill>
              </a:rPr>
              <a:t>24</a:t>
            </a:r>
            <a:r>
              <a:rPr lang="zh-CN" altLang="en-US" dirty="0">
                <a:solidFill>
                  <a:schemeClr val="tx1"/>
                </a:solidFill>
              </a:rPr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3" y="1645337"/>
            <a:ext cx="3590049" cy="9264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476" y="1840606"/>
            <a:ext cx="1321321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51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目录</a:t>
            </a:r>
            <a:endParaRPr lang="en-US" sz="351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1" y="2571749"/>
            <a:ext cx="1314156" cy="337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1361" y="2139341"/>
            <a:ext cx="2358010" cy="2423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5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CONTENTS</a:t>
            </a:r>
            <a:endParaRPr lang="en-US" sz="153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29780" y="298745"/>
            <a:ext cx="609218" cy="46166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00039" y="347859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01</a:t>
            </a:r>
            <a:endParaRPr lang="en-US" sz="243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29780" y="978939"/>
            <a:ext cx="609218" cy="46166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100039" y="1032262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02</a:t>
            </a:r>
            <a:endParaRPr lang="en-US" sz="243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229780" y="1659133"/>
            <a:ext cx="609218" cy="46166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00039" y="1716665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03</a:t>
            </a:r>
            <a:endParaRPr lang="en-US" sz="243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239047" y="2339327"/>
            <a:ext cx="609218" cy="46166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100039" y="2401069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04</a:t>
            </a:r>
            <a:endParaRPr lang="en-US" sz="243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239047" y="3020316"/>
            <a:ext cx="609218" cy="461664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00039" y="3082059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05</a:t>
            </a:r>
            <a:endParaRPr lang="en-US" sz="243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239047" y="3701305"/>
            <a:ext cx="609218" cy="46166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100039" y="3763048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06</a:t>
            </a:r>
            <a:endParaRPr lang="en-US" sz="243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239047" y="4382294"/>
            <a:ext cx="609218" cy="461664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100039" y="4444036"/>
            <a:ext cx="946423" cy="36561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>
                <a:solidFill>
                  <a:srgbClr val="FFFFFF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07</a:t>
            </a:r>
            <a:endParaRPr lang="en-US" sz="2430"/>
          </a:p>
        </p:txBody>
      </p:sp>
      <p:sp>
        <p:nvSpPr>
          <p:cNvPr id="20" name="Text 9"/>
          <p:cNvSpPr/>
          <p:nvPr/>
        </p:nvSpPr>
        <p:spPr>
          <a:xfrm>
            <a:off x="5071236" y="363869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项目概述</a:t>
            </a:r>
            <a:endParaRPr lang="en-US" sz="2160"/>
          </a:p>
        </p:txBody>
      </p:sp>
      <p:sp>
        <p:nvSpPr>
          <p:cNvPr id="21" name="Text 10"/>
          <p:cNvSpPr/>
          <p:nvPr/>
        </p:nvSpPr>
        <p:spPr>
          <a:xfrm>
            <a:off x="5071236" y="3779057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项目流程</a:t>
            </a:r>
            <a:endParaRPr lang="en-US" sz="2160"/>
          </a:p>
        </p:txBody>
      </p:sp>
      <p:sp>
        <p:nvSpPr>
          <p:cNvPr id="22" name="Text 11"/>
          <p:cNvSpPr/>
          <p:nvPr/>
        </p:nvSpPr>
        <p:spPr>
          <a:xfrm>
            <a:off x="5071236" y="1048271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核心类设计</a:t>
            </a:r>
            <a:endParaRPr lang="en-US" sz="2160"/>
          </a:p>
        </p:txBody>
      </p:sp>
      <p:sp>
        <p:nvSpPr>
          <p:cNvPr id="23" name="Text 12"/>
          <p:cNvSpPr/>
          <p:nvPr/>
        </p:nvSpPr>
        <p:spPr>
          <a:xfrm>
            <a:off x="5071236" y="1732674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关键功能</a:t>
            </a:r>
            <a:endParaRPr lang="en-US" sz="2160"/>
          </a:p>
        </p:txBody>
      </p:sp>
      <p:sp>
        <p:nvSpPr>
          <p:cNvPr id="24" name="Text 13"/>
          <p:cNvSpPr/>
          <p:nvPr/>
        </p:nvSpPr>
        <p:spPr>
          <a:xfrm>
            <a:off x="5071236" y="4460045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总结与展望</a:t>
            </a:r>
            <a:endParaRPr lang="en-US" sz="2160"/>
          </a:p>
        </p:txBody>
      </p:sp>
      <p:sp>
        <p:nvSpPr>
          <p:cNvPr id="25" name="Text 14"/>
          <p:cNvSpPr/>
          <p:nvPr/>
        </p:nvSpPr>
        <p:spPr>
          <a:xfrm>
            <a:off x="5071236" y="3098068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 dirty="0" err="1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游戏界面</a:t>
            </a:r>
            <a:endParaRPr lang="en-US" sz="2160" dirty="0"/>
          </a:p>
        </p:txBody>
      </p:sp>
      <p:sp>
        <p:nvSpPr>
          <p:cNvPr id="26" name="Text 15"/>
          <p:cNvSpPr/>
          <p:nvPr/>
        </p:nvSpPr>
        <p:spPr>
          <a:xfrm>
            <a:off x="5071236" y="2417078"/>
            <a:ext cx="3654144" cy="33832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16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排行榜系统</a:t>
            </a:r>
            <a:endParaRPr lang="en-US" sz="216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39361"/>
            <a:ext cx="3732698" cy="8275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01</a:t>
            </a:r>
            <a:endParaRPr lang="en-US" sz="504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俄罗斯方块游戏核心功能与技术栈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项目概述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20322" y="1681395"/>
            <a:ext cx="2503355" cy="21135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0196" y="1644134"/>
            <a:ext cx="2534122" cy="817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99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俄罗斯方块的核心功能丰富多样。方块生成/旋转让玩家能灵活操作方块，碰撞检测保证游戏的合理性，消行计分增添了游戏的趣味性，而游戏状态管理则确保游戏的正常运行，如开始、暂停、结束等状态的控制。</a:t>
            </a:r>
            <a:endParaRPr lang="en-US" sz="990"/>
          </a:p>
        </p:txBody>
      </p:sp>
      <p:sp>
        <p:nvSpPr>
          <p:cNvPr id="5" name="Text 1"/>
          <p:cNvSpPr/>
          <p:nvPr/>
        </p:nvSpPr>
        <p:spPr>
          <a:xfrm>
            <a:off x="6017744" y="1295028"/>
            <a:ext cx="25362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技术栈</a:t>
            </a:r>
            <a:endParaRPr lang="en-US" sz="1440"/>
          </a:p>
        </p:txBody>
      </p:sp>
      <p:sp>
        <p:nvSpPr>
          <p:cNvPr id="6" name="Text 2"/>
          <p:cNvSpPr/>
          <p:nvPr/>
        </p:nvSpPr>
        <p:spPr>
          <a:xfrm>
            <a:off x="599115" y="1297100"/>
            <a:ext cx="25362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核心功能</a:t>
            </a:r>
            <a:endParaRPr lang="en-US" sz="1440"/>
          </a:p>
        </p:txBody>
      </p:sp>
      <p:sp>
        <p:nvSpPr>
          <p:cNvPr id="7" name="Text 3"/>
          <p:cNvSpPr/>
          <p:nvPr/>
        </p:nvSpPr>
        <p:spPr>
          <a:xfrm>
            <a:off x="6034374" y="3433500"/>
            <a:ext cx="2534122" cy="916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17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代码规模方面，项目有8个核心类，约1200行代码。这些代码经过精心设计和编写，实现了游戏的各项功能，保证了游戏的稳定性和可维护性。</a:t>
            </a:r>
            <a:endParaRPr lang="en-US" sz="1170" dirty="0"/>
          </a:p>
        </p:txBody>
      </p:sp>
      <p:sp>
        <p:nvSpPr>
          <p:cNvPr id="8" name="Text 4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项目概述</a:t>
            </a:r>
            <a:endParaRPr lang="en-US" sz="2010"/>
          </a:p>
        </p:txBody>
      </p:sp>
      <p:sp>
        <p:nvSpPr>
          <p:cNvPr id="9" name="Text 5"/>
          <p:cNvSpPr/>
          <p:nvPr/>
        </p:nvSpPr>
        <p:spPr>
          <a:xfrm>
            <a:off x="6034374" y="1640540"/>
            <a:ext cx="2534122" cy="1171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990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本项目采用的技术栈包括Java</a:t>
            </a:r>
            <a:r>
              <a:rPr 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 </a:t>
            </a:r>
            <a:r>
              <a:rPr lang="en-US" sz="990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Swing、序列化和</a:t>
            </a:r>
            <a:r>
              <a:rPr lang="zh-CN" alt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事件分发线程机制</a:t>
            </a:r>
            <a:r>
              <a:rPr 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。Java </a:t>
            </a:r>
            <a:r>
              <a:rPr lang="en-US" sz="990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Swing用于构建游戏界面，提供良好的用户交互体验；序列化技术实现游戏数据的存储和读取</a:t>
            </a:r>
            <a:r>
              <a:rPr 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；</a:t>
            </a:r>
            <a:r>
              <a:rPr lang="zh-CN" alt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事件分发线程机制</a:t>
            </a:r>
            <a:r>
              <a:rPr lang="en-US" sz="990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则保证游戏的流畅运行，如方块的下落和玩家操作可同时进行</a:t>
            </a:r>
            <a:r>
              <a:rPr lang="en-US" sz="99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。</a:t>
            </a:r>
            <a:endParaRPr lang="en-US" sz="990" dirty="0"/>
          </a:p>
        </p:txBody>
      </p:sp>
      <p:sp>
        <p:nvSpPr>
          <p:cNvPr id="10" name="Text 6"/>
          <p:cNvSpPr/>
          <p:nvPr/>
        </p:nvSpPr>
        <p:spPr>
          <a:xfrm>
            <a:off x="6017743" y="3083379"/>
            <a:ext cx="25362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代码规模</a:t>
            </a:r>
            <a:endParaRPr lang="en-US" sz="1440"/>
          </a:p>
        </p:txBody>
      </p:sp>
      <p:sp>
        <p:nvSpPr>
          <p:cNvPr id="11" name="Text 7"/>
          <p:cNvSpPr/>
          <p:nvPr/>
        </p:nvSpPr>
        <p:spPr>
          <a:xfrm>
            <a:off x="600196" y="3422071"/>
            <a:ext cx="2534122" cy="9658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17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特色功能为游戏增色不少。游戏存档功能可让玩家随时保存进度，方便后续继续游戏；排行榜系统能激发玩家的竞争意识，努力冲击高分；界面预览则让玩家提前了解游戏界面布局。</a:t>
            </a:r>
            <a:endParaRPr lang="en-US" sz="1170"/>
          </a:p>
        </p:txBody>
      </p:sp>
      <p:sp>
        <p:nvSpPr>
          <p:cNvPr id="12" name="Text 8"/>
          <p:cNvSpPr/>
          <p:nvPr/>
        </p:nvSpPr>
        <p:spPr>
          <a:xfrm>
            <a:off x="599114" y="3076559"/>
            <a:ext cx="25362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特色功能</a:t>
            </a:r>
            <a:endParaRPr lang="en-US" sz="144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39361"/>
            <a:ext cx="3732698" cy="8275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02</a:t>
            </a:r>
            <a:endParaRPr lang="en-US" sz="504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游戏方块与核心逻辑实现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核心类设计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1834" y="1375443"/>
            <a:ext cx="1811140" cy="109103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04431" y="1375443"/>
            <a:ext cx="1811140" cy="109103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57029" y="1375443"/>
            <a:ext cx="1811140" cy="109103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09626" y="1375443"/>
            <a:ext cx="1811139" cy="10910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9985" y="1283594"/>
            <a:ext cx="1766239" cy="104613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12582" y="1283594"/>
            <a:ext cx="1766239" cy="104613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65179" y="1283594"/>
            <a:ext cx="1766239" cy="104613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617777" y="1283594"/>
            <a:ext cx="1766238" cy="104613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381562" y="2644757"/>
            <a:ext cx="342614" cy="402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/>
          </a:p>
        </p:txBody>
      </p:sp>
      <p:sp>
        <p:nvSpPr>
          <p:cNvPr id="12" name="Text 1"/>
          <p:cNvSpPr/>
          <p:nvPr/>
        </p:nvSpPr>
        <p:spPr>
          <a:xfrm>
            <a:off x="1476367" y="2644757"/>
            <a:ext cx="342614" cy="402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/>
          </a:p>
        </p:txBody>
      </p:sp>
      <p:sp>
        <p:nvSpPr>
          <p:cNvPr id="13" name="Text 2"/>
          <p:cNvSpPr/>
          <p:nvPr/>
        </p:nvSpPr>
        <p:spPr>
          <a:xfrm>
            <a:off x="3428965" y="2644757"/>
            <a:ext cx="342614" cy="402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/>
          </a:p>
        </p:txBody>
      </p:sp>
      <p:sp>
        <p:nvSpPr>
          <p:cNvPr id="14" name="Text 3"/>
          <p:cNvSpPr/>
          <p:nvPr/>
        </p:nvSpPr>
        <p:spPr>
          <a:xfrm>
            <a:off x="7334162" y="2644757"/>
            <a:ext cx="342614" cy="402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/>
          </a:p>
        </p:txBody>
      </p:sp>
      <p:sp>
        <p:nvSpPr>
          <p:cNvPr id="15" name="Text 4"/>
          <p:cNvSpPr/>
          <p:nvPr/>
        </p:nvSpPr>
        <p:spPr>
          <a:xfrm>
            <a:off x="6704412" y="3560445"/>
            <a:ext cx="1638395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颜色索引colorIndex决定了方块在游戏界面中的显示颜色。不同的方块形状可以对应不同的颜色，通过合理设置颜色，能让游戏界面更加美观和清晰，方便玩家区分不同的方块。</a:t>
            </a:r>
            <a:endParaRPr lang="en-US" sz="990"/>
          </a:p>
        </p:txBody>
      </p:sp>
      <p:sp>
        <p:nvSpPr>
          <p:cNvPr id="16" name="Text 5"/>
          <p:cNvSpPr/>
          <p:nvPr/>
        </p:nvSpPr>
        <p:spPr>
          <a:xfrm>
            <a:off x="2780081" y="3184761"/>
            <a:ext cx="16403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旋转功能</a:t>
            </a:r>
            <a:endParaRPr lang="en-US" sz="1440"/>
          </a:p>
        </p:txBody>
      </p:sp>
      <p:sp>
        <p:nvSpPr>
          <p:cNvPr id="17" name="Text 6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Block类</a:t>
            </a:r>
            <a:endParaRPr lang="en-US" sz="2010"/>
          </a:p>
        </p:txBody>
      </p:sp>
      <p:sp>
        <p:nvSpPr>
          <p:cNvPr id="18" name="Text 7"/>
          <p:cNvSpPr/>
          <p:nvPr/>
        </p:nvSpPr>
        <p:spPr>
          <a:xfrm>
            <a:off x="828675" y="3560445"/>
            <a:ext cx="1638395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在Block类中，方块通过二维数组shape表示其形状，colorIndex表示颜色索引。同时，定义了7种经典方块形状的静态数组，如I、J、L等形状，为游戏提供了丰富的方块样式。</a:t>
            </a:r>
            <a:endParaRPr lang="en-US" sz="990"/>
          </a:p>
        </p:txBody>
      </p:sp>
      <p:sp>
        <p:nvSpPr>
          <p:cNvPr id="19" name="Text 8"/>
          <p:cNvSpPr/>
          <p:nvPr/>
        </p:nvSpPr>
        <p:spPr>
          <a:xfrm>
            <a:off x="4745832" y="3565098"/>
            <a:ext cx="1638395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在Block类中，会根据随机数从预设的7种经典方块形状中选择一种进行初始化。这使得每次游戏开始时，方块的初始形状都具有随机性，增加了游戏的不确定性和趣味性。</a:t>
            </a:r>
            <a:endParaRPr lang="en-US" sz="990"/>
          </a:p>
        </p:txBody>
      </p:sp>
      <p:sp>
        <p:nvSpPr>
          <p:cNvPr id="20" name="Text 9"/>
          <p:cNvSpPr/>
          <p:nvPr/>
        </p:nvSpPr>
        <p:spPr>
          <a:xfrm>
            <a:off x="827483" y="3184761"/>
            <a:ext cx="1640383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方块表示</a:t>
            </a:r>
            <a:endParaRPr lang="en-US" sz="1440"/>
          </a:p>
        </p:txBody>
      </p:sp>
      <p:sp>
        <p:nvSpPr>
          <p:cNvPr id="21" name="Text 10"/>
          <p:cNvSpPr/>
          <p:nvPr/>
        </p:nvSpPr>
        <p:spPr>
          <a:xfrm>
            <a:off x="4732678" y="3188893"/>
            <a:ext cx="164038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形状初始化</a:t>
            </a:r>
            <a:endParaRPr lang="en-US" sz="1440"/>
          </a:p>
        </p:txBody>
      </p:sp>
      <p:sp>
        <p:nvSpPr>
          <p:cNvPr id="22" name="Text 11"/>
          <p:cNvSpPr/>
          <p:nvPr/>
        </p:nvSpPr>
        <p:spPr>
          <a:xfrm>
            <a:off x="6685274" y="3184761"/>
            <a:ext cx="164038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颜色设置</a:t>
            </a:r>
            <a:endParaRPr lang="en-US" sz="1440"/>
          </a:p>
        </p:txBody>
      </p:sp>
      <p:sp>
        <p:nvSpPr>
          <p:cNvPr id="23" name="Text 12"/>
          <p:cNvSpPr/>
          <p:nvPr/>
        </p:nvSpPr>
        <p:spPr>
          <a:xfrm>
            <a:off x="2787254" y="3560445"/>
            <a:ext cx="1638395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旋转功能是方块操作的重要部分。通过rotate方法实现方块顺时针旋转90度，利用矩阵转置和翻转的原理，将方块的形状进行变换，增加了游戏的策略性。</a:t>
            </a:r>
            <a:endParaRPr lang="en-US" sz="99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09835" y="1305927"/>
            <a:ext cx="670188" cy="21048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00686" y="1443194"/>
            <a:ext cx="495886" cy="4958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534038" y="995582"/>
            <a:ext cx="22451" cy="32421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227658" y="1543268"/>
            <a:ext cx="670188" cy="210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318511" y="1680534"/>
            <a:ext cx="495886" cy="4958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51862" y="995582"/>
            <a:ext cx="22451" cy="5615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45483" y="1305927"/>
            <a:ext cx="670188" cy="21048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336336" y="1443194"/>
            <a:ext cx="495886" cy="49588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569688" y="995582"/>
            <a:ext cx="22451" cy="3242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263307" y="1543267"/>
            <a:ext cx="670188" cy="21048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7354159" y="1680534"/>
            <a:ext cx="495885" cy="49588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587511" y="995582"/>
            <a:ext cx="22451" cy="5615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7459715" y="1800058"/>
            <a:ext cx="278041" cy="27804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5445259" y="1552116"/>
            <a:ext cx="278041" cy="27804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3421985" y="1800058"/>
            <a:ext cx="278041" cy="27804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407528" y="1552116"/>
            <a:ext cx="278041" cy="27804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781665" y="2000943"/>
            <a:ext cx="160969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消行处理</a:t>
            </a:r>
            <a:endParaRPr lang="en-US" sz="1440"/>
          </a:p>
        </p:txBody>
      </p:sp>
      <p:sp>
        <p:nvSpPr>
          <p:cNvPr id="20" name="Text 1"/>
          <p:cNvSpPr/>
          <p:nvPr/>
        </p:nvSpPr>
        <p:spPr>
          <a:xfrm>
            <a:off x="6798463" y="2548124"/>
            <a:ext cx="1609690" cy="14561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260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当当前方块固定后，会生成新的方块。新方块会从棋盘顶部开始下落，继续游戏。新方块的生成也是随机选择形状和颜色，保持游戏的多样性。</a:t>
            </a:r>
            <a:endParaRPr lang="en-US" sz="1260"/>
          </a:p>
        </p:txBody>
      </p:sp>
      <p:sp>
        <p:nvSpPr>
          <p:cNvPr id="21" name="Text 2"/>
          <p:cNvSpPr/>
          <p:nvPr/>
        </p:nvSpPr>
        <p:spPr>
          <a:xfrm>
            <a:off x="746015" y="2000943"/>
            <a:ext cx="160969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游戏主循环</a:t>
            </a:r>
            <a:endParaRPr lang="en-US" sz="1440"/>
          </a:p>
        </p:txBody>
      </p:sp>
      <p:sp>
        <p:nvSpPr>
          <p:cNvPr id="22" name="Text 3"/>
          <p:cNvSpPr/>
          <p:nvPr/>
        </p:nvSpPr>
        <p:spPr>
          <a:xfrm>
            <a:off x="2762814" y="2548124"/>
            <a:ext cx="1609690" cy="16642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260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碰撞检测用于判断方块是否可以移动到指定位置。它会检查方块是否与棋盘边界或已固定的方块重叠，如果重叠则不允许移动，保证了游戏的正常进行，避免方块出现不合理的位置。</a:t>
            </a:r>
            <a:endParaRPr lang="en-US" sz="1260"/>
          </a:p>
        </p:txBody>
      </p:sp>
      <p:sp>
        <p:nvSpPr>
          <p:cNvPr id="23" name="Text 4"/>
          <p:cNvSpPr/>
          <p:nvPr/>
        </p:nvSpPr>
        <p:spPr>
          <a:xfrm>
            <a:off x="4780639" y="2310784"/>
            <a:ext cx="1609690" cy="16642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260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当棋盘上某一行被方块填满时，会触发消行处理。此时，该行的方块会消失，上方的方块会下落填补空缺。消行不仅能增加玩家的得分，还能为后续方块的下落创造空间。</a:t>
            </a:r>
            <a:endParaRPr lang="en-US" sz="1260"/>
          </a:p>
        </p:txBody>
      </p:sp>
      <p:sp>
        <p:nvSpPr>
          <p:cNvPr id="24" name="Text 5"/>
          <p:cNvSpPr/>
          <p:nvPr/>
        </p:nvSpPr>
        <p:spPr>
          <a:xfrm>
            <a:off x="6799489" y="2238283"/>
            <a:ext cx="160969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新方块生成</a:t>
            </a:r>
            <a:endParaRPr lang="en-US" sz="1440"/>
          </a:p>
        </p:txBody>
      </p:sp>
      <p:sp>
        <p:nvSpPr>
          <p:cNvPr id="25" name="Text 6"/>
          <p:cNvSpPr/>
          <p:nvPr/>
        </p:nvSpPr>
        <p:spPr>
          <a:xfrm>
            <a:off x="744990" y="2310784"/>
            <a:ext cx="1609690" cy="18722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260" dirty="0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TetrisPanel类中的游戏主循环由Timer驱动。在循环中，处理方块下落、固定、消行和生成新方块的逻辑。例如，每隔一定时间，方块会自动下落一格，当方块无法继续下落时，将其固定在棋盘上。</a:t>
            </a:r>
            <a:endParaRPr lang="en-US" sz="1260" dirty="0"/>
          </a:p>
        </p:txBody>
      </p:sp>
      <p:sp>
        <p:nvSpPr>
          <p:cNvPr id="26" name="Text 7"/>
          <p:cNvSpPr/>
          <p:nvPr/>
        </p:nvSpPr>
        <p:spPr>
          <a:xfrm>
            <a:off x="2763840" y="2238283"/>
            <a:ext cx="160969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碰撞检测</a:t>
            </a:r>
            <a:endParaRPr lang="en-US" sz="1440"/>
          </a:p>
        </p:txBody>
      </p:sp>
      <p:sp>
        <p:nvSpPr>
          <p:cNvPr id="27" name="Text 8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TetrisPanel类</a:t>
            </a:r>
            <a:endParaRPr lang="en-US" sz="20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DD78C-EF84-26A4-C9BE-7AB8BDF55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777AA3-A873-9726-7D34-971382DDC74D}"/>
              </a:ext>
            </a:extLst>
          </p:cNvPr>
          <p:cNvSpPr/>
          <p:nvPr/>
        </p:nvSpPr>
        <p:spPr>
          <a:xfrm>
            <a:off x="2708676" y="1539361"/>
            <a:ext cx="3732698" cy="8275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03</a:t>
            </a:r>
            <a:endParaRPr kumimoji="0" lang="en-US" sz="50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320B0E-D944-AC0C-CCE5-E7603295666F}"/>
              </a:ext>
            </a:extLst>
          </p:cNvPr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消行计分与游戏存档</a:t>
            </a:r>
            <a:endParaRPr kumimoji="0" lang="en-US" sz="1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E640EA-DC87-5869-4733-2FBC5CE94B0E}"/>
              </a:ext>
            </a:extLst>
          </p:cNvPr>
          <p:cNvSpPr/>
          <p:nvPr/>
        </p:nvSpPr>
        <p:spPr>
          <a:xfrm>
            <a:off x="619772" y="2362347"/>
            <a:ext cx="7910505" cy="60247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zh-CN" altLang="en-US" sz="3510" dirty="0">
                <a:latin typeface="思源黑体 CN Normal"/>
                <a:ea typeface="思源黑体 CN Normal"/>
              </a:rPr>
              <a:t>游戏操作演示流程</a:t>
            </a:r>
          </a:p>
        </p:txBody>
      </p:sp>
    </p:spTree>
    <p:extLst>
      <p:ext uri="{BB962C8B-B14F-4D97-AF65-F5344CB8AC3E}">
        <p14:creationId xmlns:p14="http://schemas.microsoft.com/office/powerpoint/2010/main" val="40501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82156-5C16-1094-7E73-C4FA1D30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81E6CC-BFFF-9DC2-1DFF-C368C39CC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1A95776-656D-71EC-5004-45F14C263220}"/>
              </a:ext>
            </a:extLst>
          </p:cNvPr>
          <p:cNvSpPr/>
          <p:nvPr/>
        </p:nvSpPr>
        <p:spPr>
          <a:xfrm>
            <a:off x="406365" y="334746"/>
            <a:ext cx="8466627" cy="34503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1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游</a:t>
            </a:r>
            <a:r>
              <a:rPr kumimoji="0" lang="zh-CN" altLang="en-US" sz="201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戏演示流程</a:t>
            </a:r>
            <a:endParaRPr kumimoji="0" lang="en-US" sz="2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6135435-9826-F97F-B91E-7B46975CB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653939"/>
            <a:ext cx="2961720" cy="273630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E6134CD-E8DD-DA47-A556-6103FFF2C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920" y="1653939"/>
            <a:ext cx="4365553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4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91296"/>
            <a:ext cx="3732698" cy="7755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 dirty="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04</a:t>
            </a:r>
            <a:endParaRPr lang="en-US" sz="5040" dirty="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消行计分与游戏存档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关键功能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45839" y="1138735"/>
            <a:ext cx="348824" cy="3488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9381" y="1161185"/>
            <a:ext cx="1395046" cy="13950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60636" y="1138735"/>
            <a:ext cx="348824" cy="34882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794179" y="1161185"/>
            <a:ext cx="1395047" cy="139504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259869" y="2639531"/>
            <a:ext cx="2098371" cy="168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374668" y="2639531"/>
            <a:ext cx="2098371" cy="168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245839" y="2974568"/>
            <a:ext cx="348824" cy="34882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360636" y="2974568"/>
            <a:ext cx="348824" cy="3488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794179" y="2997019"/>
            <a:ext cx="1395047" cy="139504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259869" y="4475364"/>
            <a:ext cx="2098371" cy="1683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374668" y="4475364"/>
            <a:ext cx="2098371" cy="16838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482807" y="1209747"/>
            <a:ext cx="113623" cy="206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2</a:t>
            </a:r>
            <a:endParaRPr lang="en-US" sz="1350"/>
          </a:p>
        </p:txBody>
      </p:sp>
      <p:sp>
        <p:nvSpPr>
          <p:cNvPr id="16" name="Text 1"/>
          <p:cNvSpPr/>
          <p:nvPr/>
        </p:nvSpPr>
        <p:spPr>
          <a:xfrm>
            <a:off x="6482807" y="3045580"/>
            <a:ext cx="113623" cy="206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2</a:t>
            </a:r>
            <a:endParaRPr lang="en-US" sz="1350"/>
          </a:p>
        </p:txBody>
      </p:sp>
      <p:sp>
        <p:nvSpPr>
          <p:cNvPr id="17" name="Text 2"/>
          <p:cNvSpPr/>
          <p:nvPr/>
        </p:nvSpPr>
        <p:spPr>
          <a:xfrm>
            <a:off x="2368010" y="3045580"/>
            <a:ext cx="113623" cy="206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1</a:t>
            </a:r>
            <a:endParaRPr lang="en-US" sz="1350"/>
          </a:p>
        </p:txBody>
      </p:sp>
      <p:sp>
        <p:nvSpPr>
          <p:cNvPr id="18" name="Text 3"/>
          <p:cNvSpPr/>
          <p:nvPr/>
        </p:nvSpPr>
        <p:spPr>
          <a:xfrm>
            <a:off x="2368010" y="1209747"/>
            <a:ext cx="113623" cy="206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1</a:t>
            </a:r>
            <a:endParaRPr lang="en-US" sz="1350"/>
          </a:p>
        </p:txBody>
      </p:sp>
      <p:sp>
        <p:nvSpPr>
          <p:cNvPr id="19" name="Text 4"/>
          <p:cNvSpPr/>
          <p:nvPr/>
        </p:nvSpPr>
        <p:spPr>
          <a:xfrm>
            <a:off x="2671932" y="1205816"/>
            <a:ext cx="161953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消行机制</a:t>
            </a:r>
            <a:endParaRPr lang="en-US" sz="1440"/>
          </a:p>
        </p:txBody>
      </p:sp>
      <p:sp>
        <p:nvSpPr>
          <p:cNvPr id="20" name="Text 5"/>
          <p:cNvSpPr/>
          <p:nvPr/>
        </p:nvSpPr>
        <p:spPr>
          <a:xfrm>
            <a:off x="6451667" y="3387162"/>
            <a:ext cx="1953517" cy="742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难度调整策略根据得分来动态改变方块下落速度。当得分达到一定阈值时，方块下落速度会加快，增加游戏的紧张感和挑战性。例如，每增加一定分数，下落速度就提高一个等级。</a:t>
            </a:r>
            <a:endParaRPr lang="en-US" sz="900"/>
          </a:p>
        </p:txBody>
      </p:sp>
      <p:sp>
        <p:nvSpPr>
          <p:cNvPr id="21" name="Text 6"/>
          <p:cNvSpPr/>
          <p:nvPr/>
        </p:nvSpPr>
        <p:spPr>
          <a:xfrm>
            <a:off x="6786730" y="1205816"/>
            <a:ext cx="161953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计分规则细化</a:t>
            </a:r>
            <a:endParaRPr lang="en-US" sz="1440"/>
          </a:p>
        </p:txBody>
      </p:sp>
      <p:sp>
        <p:nvSpPr>
          <p:cNvPr id="22" name="Text 7"/>
          <p:cNvSpPr/>
          <p:nvPr/>
        </p:nvSpPr>
        <p:spPr>
          <a:xfrm>
            <a:off x="2671932" y="3041650"/>
            <a:ext cx="161953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计分与难度</a:t>
            </a:r>
            <a:endParaRPr lang="en-US" sz="1440"/>
          </a:p>
        </p:txBody>
      </p:sp>
      <p:sp>
        <p:nvSpPr>
          <p:cNvPr id="23" name="Text 8"/>
          <p:cNvSpPr/>
          <p:nvPr/>
        </p:nvSpPr>
        <p:spPr>
          <a:xfrm>
            <a:off x="2336869" y="3387162"/>
            <a:ext cx="1953517" cy="8915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计分根据消除的行数计算，消除的行数越多，得分越高。同时，随着得分的增加，会动态调整方块下落速度，使游戏难度逐渐增加，给玩家带来更大的挑战。</a:t>
            </a:r>
            <a:endParaRPr lang="en-US" sz="1080"/>
          </a:p>
        </p:txBody>
      </p:sp>
      <p:sp>
        <p:nvSpPr>
          <p:cNvPr id="24" name="Text 9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消行与计分</a:t>
            </a:r>
            <a:endParaRPr lang="en-US" sz="2010"/>
          </a:p>
        </p:txBody>
      </p:sp>
      <p:sp>
        <p:nvSpPr>
          <p:cNvPr id="25" name="Text 10"/>
          <p:cNvSpPr/>
          <p:nvPr/>
        </p:nvSpPr>
        <p:spPr>
          <a:xfrm>
            <a:off x="6451667" y="1551329"/>
            <a:ext cx="1953517" cy="885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计分规则进一步细化，例如一次性消除多行会有额外的加分奖励。消除一行可能得100分，消除两行得300分，消除三行得600分，消除四行得1000分，这样能激励玩家追求更高的消除行数。</a:t>
            </a:r>
            <a:endParaRPr lang="en-US" sz="900" dirty="0"/>
          </a:p>
        </p:txBody>
      </p:sp>
      <p:sp>
        <p:nvSpPr>
          <p:cNvPr id="26" name="Text 11"/>
          <p:cNvSpPr/>
          <p:nvPr/>
        </p:nvSpPr>
        <p:spPr>
          <a:xfrm>
            <a:off x="2336869" y="1551329"/>
            <a:ext cx="1953517" cy="742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消行机制是游戏的重要环节。程序会遍历棋盘的每一行，检测是否有满行。若有满行，则将其消除，并把上方的行依次下移。这一过程保证了游戏区域的连续性，让游戏能够持续进行。</a:t>
            </a:r>
            <a:endParaRPr lang="en-US" sz="900"/>
          </a:p>
        </p:txBody>
      </p:sp>
      <p:sp>
        <p:nvSpPr>
          <p:cNvPr id="27" name="Text 12"/>
          <p:cNvSpPr/>
          <p:nvPr/>
        </p:nvSpPr>
        <p:spPr>
          <a:xfrm>
            <a:off x="6786730" y="3041650"/>
            <a:ext cx="161953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难度调整策略</a:t>
            </a:r>
            <a:endParaRPr lang="en-US" sz="1440"/>
          </a:p>
        </p:txBody>
      </p:sp>
      <p:sp>
        <p:nvSpPr>
          <p:cNvPr id="33" name="AutoShape 2">
            <a:extLst>
              <a:ext uri="{FF2B5EF4-FFF2-40B4-BE49-F238E27FC236}">
                <a16:creationId xmlns:a16="http://schemas.microsoft.com/office/drawing/2014/main" id="{DF708DE5-BD92-C519-BB80-D2035CC837A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4724399" y="2419350"/>
            <a:ext cx="136553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0B93FBB2-6E68-3CDD-399D-F9061CA59D19}"/>
              </a:ext>
            </a:extLst>
          </p:cNvPr>
          <p:cNvSpPr/>
          <p:nvPr/>
        </p:nvSpPr>
        <p:spPr>
          <a:xfrm>
            <a:off x="592332" y="3160522"/>
            <a:ext cx="1395046" cy="1395045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AF86A55C-E1E3-4A23-E7BD-3F2D6DD76C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392" y="3242299"/>
            <a:ext cx="685896" cy="1181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9705" y="2534943"/>
            <a:ext cx="7525314" cy="56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54418" y="1295668"/>
            <a:ext cx="928688" cy="92809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283193" y="1295668"/>
            <a:ext cx="928688" cy="92809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911968" y="1295671"/>
            <a:ext cx="928688" cy="9280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40743" y="1295667"/>
            <a:ext cx="928688" cy="92809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075811" y="2055479"/>
            <a:ext cx="57150" cy="51463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718022" y="2047961"/>
            <a:ext cx="57150" cy="51454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360117" y="2047865"/>
            <a:ext cx="57150" cy="5146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002324" y="2047938"/>
            <a:ext cx="57150" cy="51454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700452" y="2711729"/>
            <a:ext cx="135328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存档文件管理</a:t>
            </a:r>
            <a:endParaRPr lang="en-US" sz="1440"/>
          </a:p>
        </p:txBody>
      </p:sp>
      <p:sp>
        <p:nvSpPr>
          <p:cNvPr id="13" name="Text 1"/>
          <p:cNvSpPr/>
          <p:nvPr/>
        </p:nvSpPr>
        <p:spPr>
          <a:xfrm>
            <a:off x="1427610" y="2702319"/>
            <a:ext cx="135328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保存游戏</a:t>
            </a:r>
            <a:endParaRPr lang="en-US" sz="1440"/>
          </a:p>
        </p:txBody>
      </p:sp>
      <p:sp>
        <p:nvSpPr>
          <p:cNvPr id="14" name="Text 2"/>
          <p:cNvSpPr/>
          <p:nvPr/>
        </p:nvSpPr>
        <p:spPr>
          <a:xfrm>
            <a:off x="6377946" y="3000367"/>
            <a:ext cx="1362715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为了确保存档的安全性，会对存档文件进行加密处理。同时，在保存和加载过程中，会进行数据校验，防止数据损坏或丢失，保证玩家的游戏进度能够得到有效保存和恢复。</a:t>
            </a:r>
            <a:endParaRPr lang="en-US" sz="990"/>
          </a:p>
        </p:txBody>
      </p:sp>
      <p:sp>
        <p:nvSpPr>
          <p:cNvPr id="15" name="Text 3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游戏存档功能</a:t>
            </a:r>
            <a:endParaRPr lang="en-US" sz="2010"/>
          </a:p>
        </p:txBody>
      </p:sp>
      <p:sp>
        <p:nvSpPr>
          <p:cNvPr id="16" name="Text 4"/>
          <p:cNvSpPr/>
          <p:nvPr/>
        </p:nvSpPr>
        <p:spPr>
          <a:xfrm>
            <a:off x="6360035" y="2709195"/>
            <a:ext cx="13625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存档安全保障</a:t>
            </a:r>
            <a:endParaRPr lang="en-US" sz="1440"/>
          </a:p>
        </p:txBody>
      </p:sp>
      <p:sp>
        <p:nvSpPr>
          <p:cNvPr id="17" name="Text 5"/>
          <p:cNvSpPr/>
          <p:nvPr/>
        </p:nvSpPr>
        <p:spPr>
          <a:xfrm>
            <a:off x="1427610" y="2983249"/>
            <a:ext cx="1362715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保存游戏利用Java序列化技术，将当前游戏状态，如棋盘布局、方块位置、分数等信息写入文件。这样玩家在下次打开游戏时，可以继续之前的进度，实现断点续玩。</a:t>
            </a:r>
            <a:endParaRPr lang="en-US" sz="990"/>
          </a:p>
        </p:txBody>
      </p:sp>
      <p:sp>
        <p:nvSpPr>
          <p:cNvPr id="18" name="Text 6"/>
          <p:cNvSpPr/>
          <p:nvPr/>
        </p:nvSpPr>
        <p:spPr>
          <a:xfrm>
            <a:off x="3075743" y="3000367"/>
            <a:ext cx="1362715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加载游戏时，从文件中读取序列化的游戏数据，将其恢复到游戏中。程序会根据读取的数据，重新设置棋盘、方块和分数等信息，让玩家无缝衔接之前的游戏。</a:t>
            </a:r>
            <a:endParaRPr lang="en-US" sz="990"/>
          </a:p>
        </p:txBody>
      </p:sp>
      <p:sp>
        <p:nvSpPr>
          <p:cNvPr id="19" name="Text 7"/>
          <p:cNvSpPr/>
          <p:nvPr/>
        </p:nvSpPr>
        <p:spPr>
          <a:xfrm>
            <a:off x="4712337" y="3006672"/>
            <a:ext cx="1362715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为了方便管理，存档文件会有特定的命名规则和存储位置。可以根据存档时间、游戏进度等信息对存档文件进行分类和整理，避免文件混乱，方便玩家查找和使用。</a:t>
            </a:r>
            <a:endParaRPr lang="en-US" sz="990"/>
          </a:p>
        </p:txBody>
      </p:sp>
      <p:sp>
        <p:nvSpPr>
          <p:cNvPr id="20" name="Text 8"/>
          <p:cNvSpPr/>
          <p:nvPr/>
        </p:nvSpPr>
        <p:spPr>
          <a:xfrm>
            <a:off x="3069780" y="2709195"/>
            <a:ext cx="135328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加载游戏</a:t>
            </a:r>
            <a:endParaRPr lang="en-US" sz="144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5" animBg="1"/>
      <p:bldP spid="5" grpId="8" animBg="1"/>
      <p:bldP spid="6" grpId="11" animBg="1"/>
      <p:bldP spid="7" grpId="14" animBg="1"/>
      <p:bldP spid="8" grpId="1" animBg="1"/>
      <p:bldP spid="9" grpId="2" animBg="1"/>
      <p:bldP spid="10" grpId="3" animBg="1"/>
      <p:bldP spid="11" grpId="4" animBg="1"/>
      <p:bldP spid="12" grpId="12" animBg="1"/>
      <p:bldP spid="13" grpId="6" animBg="1"/>
      <p:bldP spid="14" grpId="16" animBg="1"/>
      <p:bldP spid="16" grpId="15" animBg="1"/>
      <p:bldP spid="17" grpId="7" animBg="1"/>
      <p:bldP spid="18" grpId="10" animBg="1"/>
      <p:bldP spid="19" grpId="13" animBg="1"/>
      <p:bldP spid="20" grpId="9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91296"/>
            <a:ext cx="3732698" cy="7755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 dirty="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05</a:t>
            </a:r>
            <a:endParaRPr lang="en-US" sz="5040" dirty="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高分记录管理与存储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排行榜系统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9380" y="2713724"/>
            <a:ext cx="1745389" cy="174538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9380" y="968337"/>
            <a:ext cx="1745389" cy="17453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9380" y="2571750"/>
            <a:ext cx="1745389" cy="14197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92663" y="2713724"/>
            <a:ext cx="1745389" cy="174538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92663" y="968337"/>
            <a:ext cx="1745389" cy="174538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692663" y="2571750"/>
            <a:ext cx="1745389" cy="14197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947" y="2713724"/>
            <a:ext cx="1745389" cy="174538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705947" y="968337"/>
            <a:ext cx="1745389" cy="174538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705947" y="2571750"/>
            <a:ext cx="1745389" cy="14197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719231" y="2713724"/>
            <a:ext cx="1745389" cy="174538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719231" y="968337"/>
            <a:ext cx="1745389" cy="174538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719231" y="2571750"/>
            <a:ext cx="1745389" cy="141974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893930" y="2787202"/>
            <a:ext cx="137856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数据更新与同步</a:t>
            </a:r>
            <a:endParaRPr lang="en-US" sz="1440"/>
          </a:p>
        </p:txBody>
      </p:sp>
      <p:sp>
        <p:nvSpPr>
          <p:cNvPr id="16" name="Text 1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HighScoreManager类</a:t>
            </a:r>
            <a:endParaRPr lang="en-US" sz="2010"/>
          </a:p>
        </p:txBody>
      </p:sp>
      <p:sp>
        <p:nvSpPr>
          <p:cNvPr id="17" name="Text 2"/>
          <p:cNvSpPr/>
          <p:nvPr/>
        </p:nvSpPr>
        <p:spPr>
          <a:xfrm>
            <a:off x="867363" y="2787202"/>
            <a:ext cx="137856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分数管理</a:t>
            </a:r>
            <a:endParaRPr lang="en-US" sz="1440"/>
          </a:p>
        </p:txBody>
      </p:sp>
      <p:sp>
        <p:nvSpPr>
          <p:cNvPr id="18" name="Text 3"/>
          <p:cNvSpPr/>
          <p:nvPr/>
        </p:nvSpPr>
        <p:spPr>
          <a:xfrm>
            <a:off x="2880647" y="2787202"/>
            <a:ext cx="137856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文件存储</a:t>
            </a:r>
            <a:endParaRPr lang="en-US" sz="1440"/>
          </a:p>
        </p:txBody>
      </p:sp>
      <p:sp>
        <p:nvSpPr>
          <p:cNvPr id="19" name="Text 4"/>
          <p:cNvSpPr/>
          <p:nvPr/>
        </p:nvSpPr>
        <p:spPr>
          <a:xfrm>
            <a:off x="868444" y="3132715"/>
            <a:ext cx="1376407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HighScoreManager类负责分数管理。当玩家游戏结束后，会将其分数添加到分数列表中，并按分数降序排序。只保留前10名高分，激励玩家不断挑战更高分数。</a:t>
            </a:r>
            <a:endParaRPr lang="en-US" sz="990"/>
          </a:p>
        </p:txBody>
      </p:sp>
      <p:sp>
        <p:nvSpPr>
          <p:cNvPr id="20" name="Text 5"/>
          <p:cNvSpPr/>
          <p:nvPr/>
        </p:nvSpPr>
        <p:spPr>
          <a:xfrm>
            <a:off x="6907214" y="2787202"/>
            <a:ext cx="137856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数据备份与恢复</a:t>
            </a:r>
            <a:endParaRPr lang="en-US" sz="1440"/>
          </a:p>
        </p:txBody>
      </p:sp>
      <p:sp>
        <p:nvSpPr>
          <p:cNvPr id="21" name="Text 6"/>
          <p:cNvSpPr/>
          <p:nvPr/>
        </p:nvSpPr>
        <p:spPr>
          <a:xfrm>
            <a:off x="6908296" y="3132715"/>
            <a:ext cx="1376407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为了防止排行榜数据丢失，会定期对排行榜文件进行备份。如果文件出现损坏或丢失，可以通过备份文件进行恢复，确保排行榜数据的完整性和可用性。</a:t>
            </a:r>
            <a:endParaRPr lang="en-US" sz="990"/>
          </a:p>
        </p:txBody>
      </p:sp>
      <p:sp>
        <p:nvSpPr>
          <p:cNvPr id="22" name="Text 7"/>
          <p:cNvSpPr/>
          <p:nvPr/>
        </p:nvSpPr>
        <p:spPr>
          <a:xfrm>
            <a:off x="2881728" y="3132715"/>
            <a:ext cx="1376407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分数数据会被写入文本文件进行持久化存储。文件中会记录玩家的姓名和分数，方便后续查看和统计。这样即使游戏关闭，排行榜数据也不会丢失。</a:t>
            </a:r>
            <a:endParaRPr lang="en-US" sz="990"/>
          </a:p>
        </p:txBody>
      </p:sp>
      <p:sp>
        <p:nvSpPr>
          <p:cNvPr id="23" name="Text 8"/>
          <p:cNvSpPr/>
          <p:nvPr/>
        </p:nvSpPr>
        <p:spPr>
          <a:xfrm>
            <a:off x="4895012" y="3132715"/>
            <a:ext cx="1376407" cy="10401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当有新的高分记录时，排行榜数据会及时更新。同时，在游戏启动时，会从文件中读取最新的排行榜数据并同步到游戏界面，保证玩家看到的是最新的排行榜信息。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91296"/>
            <a:ext cx="3732698" cy="7755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 dirty="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06</a:t>
            </a:r>
            <a:endParaRPr lang="en-US" sz="5040" dirty="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直观友好的用户交互设计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游戏界面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2780" y="1604374"/>
            <a:ext cx="8121220" cy="255157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" y="3870764"/>
            <a:ext cx="3015119" cy="39241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286889" y="1858756"/>
            <a:ext cx="132306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菜单系统</a:t>
            </a:r>
            <a:endParaRPr lang="en-US" sz="1440"/>
          </a:p>
        </p:txBody>
      </p:sp>
      <p:sp>
        <p:nvSpPr>
          <p:cNvPr id="7" name="Text 1"/>
          <p:cNvSpPr/>
          <p:nvPr/>
        </p:nvSpPr>
        <p:spPr>
          <a:xfrm>
            <a:off x="3916123" y="3300856"/>
            <a:ext cx="1320901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720">
                <a:solidFill>
                  <a:srgbClr val="494949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预览面板显示下一个即将出现的方块，方便玩家提前规划方块的下落位置和旋转方式。这增加了游戏的策略性，让玩家有更多时间思考和准备。</a:t>
            </a:r>
            <a:endParaRPr lang="en-US" sz="720"/>
          </a:p>
        </p:txBody>
      </p:sp>
      <p:sp>
        <p:nvSpPr>
          <p:cNvPr id="8" name="Text 2"/>
          <p:cNvSpPr/>
          <p:nvPr/>
        </p:nvSpPr>
        <p:spPr>
          <a:xfrm>
            <a:off x="7287973" y="2167381"/>
            <a:ext cx="1320901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720">
                <a:solidFill>
                  <a:srgbClr val="494949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菜单系统提供游戏控制选项，包括保存/加载游戏、开始新游戏、退出游戏等功能。玩家可以通过菜单系统方便地管理游戏，满足不同的游戏需求。</a:t>
            </a:r>
            <a:endParaRPr lang="en-US" sz="720"/>
          </a:p>
        </p:txBody>
      </p:sp>
      <p:sp>
        <p:nvSpPr>
          <p:cNvPr id="9" name="Text 3"/>
          <p:cNvSpPr/>
          <p:nvPr/>
        </p:nvSpPr>
        <p:spPr>
          <a:xfrm>
            <a:off x="3915039" y="2992231"/>
            <a:ext cx="132306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预览面板</a:t>
            </a:r>
            <a:endParaRPr lang="en-US" sz="1440"/>
          </a:p>
        </p:txBody>
      </p:sp>
      <p:sp>
        <p:nvSpPr>
          <p:cNvPr id="10" name="Text 4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界面组件</a:t>
            </a:r>
            <a:endParaRPr lang="en-US" sz="2010"/>
          </a:p>
        </p:txBody>
      </p:sp>
      <p:sp>
        <p:nvSpPr>
          <p:cNvPr id="11" name="Text 5"/>
          <p:cNvSpPr/>
          <p:nvPr/>
        </p:nvSpPr>
        <p:spPr>
          <a:xfrm>
            <a:off x="5593679" y="3300856"/>
            <a:ext cx="1320901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720">
                <a:solidFill>
                  <a:srgbClr val="494949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状态栏显示当前分数和游戏运行状态，如暂停、游戏结束等。玩家可以随时了解游戏的进展和自己的得分情况，根据状态调整游戏策略。</a:t>
            </a:r>
            <a:endParaRPr lang="en-US" sz="720"/>
          </a:p>
        </p:txBody>
      </p:sp>
      <p:sp>
        <p:nvSpPr>
          <p:cNvPr id="12" name="Text 6"/>
          <p:cNvSpPr/>
          <p:nvPr/>
        </p:nvSpPr>
        <p:spPr>
          <a:xfrm>
            <a:off x="5592595" y="2992231"/>
            <a:ext cx="132306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状态栏</a:t>
            </a:r>
            <a:endParaRPr lang="en-US" sz="1440"/>
          </a:p>
        </p:txBody>
      </p:sp>
      <p:sp>
        <p:nvSpPr>
          <p:cNvPr id="13" name="Text 7"/>
          <p:cNvSpPr/>
          <p:nvPr/>
        </p:nvSpPr>
        <p:spPr>
          <a:xfrm>
            <a:off x="3916123" y="2167381"/>
            <a:ext cx="1320901" cy="714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720">
                <a:solidFill>
                  <a:srgbClr val="494949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游戏主区域是一个10×20的网格棋盘，方块在此区域下落和堆叠。它是游戏的核心区域，玩家的操作主要围绕这个区域展开，方块的碰撞、消行等逻辑也在此发生。</a:t>
            </a:r>
            <a:endParaRPr lang="en-US" sz="720"/>
          </a:p>
        </p:txBody>
      </p:sp>
      <p:sp>
        <p:nvSpPr>
          <p:cNvPr id="14" name="Text 8"/>
          <p:cNvSpPr/>
          <p:nvPr/>
        </p:nvSpPr>
        <p:spPr>
          <a:xfrm>
            <a:off x="5593679" y="2167381"/>
            <a:ext cx="1320901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720">
                <a:solidFill>
                  <a:srgbClr val="494949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排行榜实时更新并显示TOP10玩家的高分记录。玩家可以通过排行榜了解自己的排名和其他玩家的成绩，激发竞争意识，努力提高自己的分数。</a:t>
            </a:r>
            <a:endParaRPr lang="en-US" sz="720"/>
          </a:p>
        </p:txBody>
      </p:sp>
      <p:sp>
        <p:nvSpPr>
          <p:cNvPr id="15" name="Text 9"/>
          <p:cNvSpPr/>
          <p:nvPr/>
        </p:nvSpPr>
        <p:spPr>
          <a:xfrm>
            <a:off x="3915039" y="1845733"/>
            <a:ext cx="1323061" cy="26379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游戏主区域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5592595" y="1858756"/>
            <a:ext cx="132306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排行榜</a:t>
            </a:r>
            <a:endParaRPr lang="en-US" sz="144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32B3AE8-D412-81BD-D68C-BA38081E4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09" y="792305"/>
            <a:ext cx="2331689" cy="3073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1" animBg="1"/>
      <p:bldP spid="6" grpId="11" animBg="1"/>
      <p:bldP spid="7" grpId="6" animBg="1"/>
      <p:bldP spid="8" grpId="12" animBg="1"/>
      <p:bldP spid="9" grpId="5" animBg="1"/>
      <p:bldP spid="11" grpId="10" animBg="1"/>
      <p:bldP spid="12" grpId="9" animBg="1"/>
      <p:bldP spid="13" grpId="4" animBg="1"/>
      <p:bldP spid="14" grpId="8" animBg="1"/>
      <p:bldP spid="15" grpId="3" animBg="1"/>
      <p:bldP spid="16" grpId="7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91296"/>
            <a:ext cx="3732698" cy="7755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 dirty="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07</a:t>
            </a:r>
            <a:endParaRPr lang="en-US" sz="5040" dirty="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俄罗斯方块开发步骤与规划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项目流程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18322" y="1057301"/>
            <a:ext cx="2458662" cy="15144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00092" y="979613"/>
            <a:ext cx="345281" cy="3213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18322" y="3032405"/>
            <a:ext cx="2458662" cy="15144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500688" y="2954717"/>
            <a:ext cx="344835" cy="32138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07243" y="1057301"/>
            <a:ext cx="2458660" cy="151444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9578" y="979613"/>
            <a:ext cx="344835" cy="32138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07243" y="3032405"/>
            <a:ext cx="2458660" cy="151444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289578" y="2954717"/>
            <a:ext cx="344835" cy="321387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56631" y="2989817"/>
            <a:ext cx="219322" cy="2511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080" b="1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04</a:t>
            </a:r>
            <a:endParaRPr lang="en-US" sz="1080"/>
          </a:p>
        </p:txBody>
      </p:sp>
      <p:sp>
        <p:nvSpPr>
          <p:cNvPr id="12" name="Text 1"/>
          <p:cNvSpPr/>
          <p:nvPr/>
        </p:nvSpPr>
        <p:spPr>
          <a:xfrm>
            <a:off x="5567666" y="1014713"/>
            <a:ext cx="219322" cy="2511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080" b="1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01</a:t>
            </a:r>
            <a:endParaRPr lang="en-US" sz="1080"/>
          </a:p>
        </p:txBody>
      </p:sp>
      <p:sp>
        <p:nvSpPr>
          <p:cNvPr id="13" name="Text 2"/>
          <p:cNvSpPr/>
          <p:nvPr/>
        </p:nvSpPr>
        <p:spPr>
          <a:xfrm>
            <a:off x="5567740" y="2989817"/>
            <a:ext cx="219322" cy="2511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080" b="1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03</a:t>
            </a:r>
            <a:endParaRPr lang="en-US" sz="1080"/>
          </a:p>
        </p:txBody>
      </p:sp>
      <p:sp>
        <p:nvSpPr>
          <p:cNvPr id="14" name="Text 3"/>
          <p:cNvSpPr/>
          <p:nvPr/>
        </p:nvSpPr>
        <p:spPr>
          <a:xfrm>
            <a:off x="8356631" y="1014713"/>
            <a:ext cx="219322" cy="2511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080" b="1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02</a:t>
            </a:r>
            <a:endParaRPr lang="en-US" sz="1080"/>
          </a:p>
        </p:txBody>
      </p:sp>
      <p:sp>
        <p:nvSpPr>
          <p:cNvPr id="16" name="Text 4"/>
          <p:cNvSpPr/>
          <p:nvPr/>
        </p:nvSpPr>
        <p:spPr>
          <a:xfrm>
            <a:off x="6296888" y="3416032"/>
            <a:ext cx="2089059" cy="714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08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将需求进行整理和文档化，形成需求规格说明书。文档应清晰、准确地描述游戏的各项需求，方便开发团队成员理解和遵循。</a:t>
            </a:r>
            <a:endParaRPr lang="en-US" sz="1080"/>
          </a:p>
        </p:txBody>
      </p:sp>
      <p:sp>
        <p:nvSpPr>
          <p:cNvPr id="17" name="Text 5"/>
          <p:cNvSpPr/>
          <p:nvPr/>
        </p:nvSpPr>
        <p:spPr>
          <a:xfrm>
            <a:off x="3506992" y="1176252"/>
            <a:ext cx="209129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 err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功能需求</a:t>
            </a:r>
            <a:endParaRPr lang="en-US" sz="1440" dirty="0"/>
          </a:p>
        </p:txBody>
      </p:sp>
      <p:sp>
        <p:nvSpPr>
          <p:cNvPr id="18" name="Text 6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需求分析</a:t>
            </a:r>
            <a:endParaRPr lang="en-US" sz="2010"/>
          </a:p>
        </p:txBody>
      </p:sp>
      <p:sp>
        <p:nvSpPr>
          <p:cNvPr id="19" name="Text 7"/>
          <p:cNvSpPr/>
          <p:nvPr/>
        </p:nvSpPr>
        <p:spPr>
          <a:xfrm>
            <a:off x="3508072" y="1440930"/>
            <a:ext cx="2089134" cy="817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明确游戏的核心功能，如方块生成、旋转、碰撞检测、消行计分等。同时，确定特色功能，如游戏存档、排行榜系统等。这是开发的基础，为后续设计和编码提供方向。</a:t>
            </a:r>
            <a:endParaRPr lang="en-US" sz="990"/>
          </a:p>
        </p:txBody>
      </p:sp>
      <p:sp>
        <p:nvSpPr>
          <p:cNvPr id="20" name="Text 8"/>
          <p:cNvSpPr/>
          <p:nvPr/>
        </p:nvSpPr>
        <p:spPr>
          <a:xfrm>
            <a:off x="6297260" y="1440930"/>
            <a:ext cx="2089134" cy="714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08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考虑用户的操作习惯和体验需求。例如，设计简洁易懂的界面，方便玩家操作；提供良好的视觉效果和音效，增强游戏的趣味性。</a:t>
            </a:r>
            <a:endParaRPr lang="en-US" sz="1080"/>
          </a:p>
        </p:txBody>
      </p:sp>
      <p:sp>
        <p:nvSpPr>
          <p:cNvPr id="21" name="Text 9"/>
          <p:cNvSpPr/>
          <p:nvPr/>
        </p:nvSpPr>
        <p:spPr>
          <a:xfrm>
            <a:off x="3507215" y="3151356"/>
            <a:ext cx="2091219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性能需求</a:t>
            </a:r>
            <a:endParaRPr lang="en-US" sz="1440"/>
          </a:p>
        </p:txBody>
      </p:sp>
      <p:sp>
        <p:nvSpPr>
          <p:cNvPr id="22" name="Text 10"/>
          <p:cNvSpPr/>
          <p:nvPr/>
        </p:nvSpPr>
        <p:spPr>
          <a:xfrm>
            <a:off x="6295808" y="3151356"/>
            <a:ext cx="2091219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需求文档</a:t>
            </a:r>
            <a:endParaRPr lang="en-US" sz="1440"/>
          </a:p>
        </p:txBody>
      </p:sp>
      <p:sp>
        <p:nvSpPr>
          <p:cNvPr id="23" name="Text 11"/>
          <p:cNvSpPr/>
          <p:nvPr/>
        </p:nvSpPr>
        <p:spPr>
          <a:xfrm>
            <a:off x="3508296" y="3416032"/>
            <a:ext cx="2089059" cy="7726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17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确定游戏的性能指标，如响应时间、帧率等。确保游戏在不同配置的设备上都能流畅运行，避免出现卡顿现象。</a:t>
            </a:r>
            <a:endParaRPr lang="en-US" sz="1170"/>
          </a:p>
        </p:txBody>
      </p:sp>
      <p:sp>
        <p:nvSpPr>
          <p:cNvPr id="24" name="Text 12"/>
          <p:cNvSpPr/>
          <p:nvPr/>
        </p:nvSpPr>
        <p:spPr>
          <a:xfrm>
            <a:off x="6296180" y="1176252"/>
            <a:ext cx="209129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用户需求</a:t>
            </a:r>
            <a:endParaRPr lang="en-US" sz="144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77F8201-69F6-F45E-B702-0113258A19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157" y="1265899"/>
            <a:ext cx="2994220" cy="299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2" animBg="1"/>
      <p:bldP spid="4" grpId="6" animBg="1"/>
      <p:bldP spid="5" grpId="3" animBg="1"/>
      <p:bldP spid="6" grpId="7" animBg="1"/>
      <p:bldP spid="7" grpId="0" animBg="1"/>
      <p:bldP spid="8" grpId="4" animBg="1"/>
      <p:bldP spid="9" grpId="1" animBg="1"/>
      <p:bldP spid="10" grpId="5" animBg="1"/>
      <p:bldP spid="11" grpId="17" animBg="1"/>
      <p:bldP spid="12" grpId="8" animBg="1"/>
      <p:bldP spid="13" grpId="14" animBg="1"/>
      <p:bldP spid="14" grpId="11" animBg="1"/>
      <p:bldP spid="16" grpId="19" animBg="1"/>
      <p:bldP spid="17" grpId="9" animBg="1"/>
      <p:bldP spid="19" grpId="10" animBg="1"/>
      <p:bldP spid="20" grpId="13" animBg="1"/>
      <p:bldP spid="21" grpId="15" animBg="1"/>
      <p:bldP spid="22" grpId="18" animBg="1"/>
      <p:bldP spid="23" grpId="16" animBg="1"/>
      <p:bldP spid="24" grpId="1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4622" y="1424175"/>
            <a:ext cx="1045674" cy="9670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63984" y="1424175"/>
            <a:ext cx="1053009" cy="9670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143344" y="1424175"/>
            <a:ext cx="1053010" cy="9670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330040" y="1424175"/>
            <a:ext cx="1051961" cy="96709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37622" y="1658876"/>
            <a:ext cx="237843" cy="24203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669518" y="1866334"/>
            <a:ext cx="366718" cy="29023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469201" y="1673544"/>
            <a:ext cx="407583" cy="41386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531019" y="1700786"/>
            <a:ext cx="325857" cy="2629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775149" y="1873668"/>
            <a:ext cx="88013" cy="13830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144008" y="1879955"/>
            <a:ext cx="326904" cy="25565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049708" y="1673544"/>
            <a:ext cx="515503" cy="26927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443670" y="1693452"/>
            <a:ext cx="27242" cy="15192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239354" y="1873668"/>
            <a:ext cx="136209" cy="13830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3276218" y="1714408"/>
            <a:ext cx="428538" cy="45578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2333226" y="1873668"/>
            <a:ext cx="135163" cy="13830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1898402" y="1929200"/>
            <a:ext cx="997476" cy="1990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4512588" y="1873668"/>
            <a:ext cx="135163" cy="13830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4084049" y="1929200"/>
            <a:ext cx="992238" cy="19908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6698234" y="1873668"/>
            <a:ext cx="128877" cy="13830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6264458" y="1929200"/>
            <a:ext cx="997476" cy="19908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59702" y="2619120"/>
            <a:ext cx="1500595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40404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架构设计</a:t>
            </a:r>
            <a:endParaRPr lang="en-US" sz="1440"/>
          </a:p>
        </p:txBody>
      </p:sp>
      <p:sp>
        <p:nvSpPr>
          <p:cNvPr id="24" name="Text 1"/>
          <p:cNvSpPr/>
          <p:nvPr/>
        </p:nvSpPr>
        <p:spPr>
          <a:xfrm>
            <a:off x="7120052" y="2986731"/>
            <a:ext cx="1504658" cy="1352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17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设计游戏的界面布局和样式。包括游戏主区域、预览面板、排行榜等组件的位置和外观。界面设计要注重用户体验，使界面美观、易用。</a:t>
            </a:r>
            <a:endParaRPr lang="en-US" sz="1170"/>
          </a:p>
        </p:txBody>
      </p:sp>
      <p:sp>
        <p:nvSpPr>
          <p:cNvPr id="25" name="Text 2"/>
          <p:cNvSpPr/>
          <p:nvPr/>
        </p:nvSpPr>
        <p:spPr>
          <a:xfrm>
            <a:off x="7101453" y="2619120"/>
            <a:ext cx="1500595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40404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界面设计</a:t>
            </a:r>
            <a:endParaRPr lang="en-US" sz="1440"/>
          </a:p>
        </p:txBody>
      </p:sp>
      <p:sp>
        <p:nvSpPr>
          <p:cNvPr id="26" name="Text 3"/>
          <p:cNvSpPr/>
          <p:nvPr/>
        </p:nvSpPr>
        <p:spPr>
          <a:xfrm>
            <a:off x="2748937" y="2986731"/>
            <a:ext cx="1504658" cy="1144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进行类的设计，定义各个类的属性和方法。如Block类表示方块，TetrisPanel类处理游戏逻辑等。类设计要遵循面向对象的原则，提高代码的可维护性和扩展性。</a:t>
            </a:r>
            <a:endParaRPr lang="en-US" sz="990"/>
          </a:p>
        </p:txBody>
      </p:sp>
      <p:sp>
        <p:nvSpPr>
          <p:cNvPr id="27" name="Text 4"/>
          <p:cNvSpPr/>
          <p:nvPr/>
        </p:nvSpPr>
        <p:spPr>
          <a:xfrm>
            <a:off x="559702" y="2986731"/>
            <a:ext cx="1504658" cy="1352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17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设计游戏的整体架构，确定各个模块的功能和交互方式。例如，将游戏分为界面模块、逻辑模块和数据模块，明确它们之间的接口和通信机制。</a:t>
            </a:r>
            <a:endParaRPr lang="en-US" sz="1170"/>
          </a:p>
        </p:txBody>
      </p:sp>
      <p:sp>
        <p:nvSpPr>
          <p:cNvPr id="28" name="Text 5"/>
          <p:cNvSpPr/>
          <p:nvPr/>
        </p:nvSpPr>
        <p:spPr>
          <a:xfrm>
            <a:off x="4934495" y="2986731"/>
            <a:ext cx="1504658" cy="1159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17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如果游戏需要存储数据，如排行榜信息、游戏存档等，要进行数据库设计。确定数据表的结构和关系，保证数据的有效存储和查询。</a:t>
            </a:r>
            <a:endParaRPr lang="en-US" sz="1170"/>
          </a:p>
        </p:txBody>
      </p:sp>
      <p:sp>
        <p:nvSpPr>
          <p:cNvPr id="29" name="Text 6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设计阶段</a:t>
            </a:r>
            <a:endParaRPr lang="en-US" sz="2010"/>
          </a:p>
        </p:txBody>
      </p:sp>
      <p:sp>
        <p:nvSpPr>
          <p:cNvPr id="30" name="Text 7"/>
          <p:cNvSpPr/>
          <p:nvPr/>
        </p:nvSpPr>
        <p:spPr>
          <a:xfrm>
            <a:off x="2742731" y="2619120"/>
            <a:ext cx="1500595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40" b="1">
                <a:solidFill>
                  <a:srgbClr val="40404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类设计</a:t>
            </a:r>
            <a:endParaRPr lang="en-US" sz="1440"/>
          </a:p>
        </p:txBody>
      </p:sp>
      <p:sp>
        <p:nvSpPr>
          <p:cNvPr id="31" name="Text 8"/>
          <p:cNvSpPr/>
          <p:nvPr/>
        </p:nvSpPr>
        <p:spPr>
          <a:xfrm>
            <a:off x="4922092" y="2619120"/>
            <a:ext cx="1500595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40404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数据库设计</a:t>
            </a:r>
            <a:endParaRPr lang="en-US" sz="144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1511" y="1493419"/>
            <a:ext cx="1844707" cy="278330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436" y="1337608"/>
            <a:ext cx="1520857" cy="3116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653570" y="1493419"/>
            <a:ext cx="1844802" cy="278330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815590" y="1337608"/>
            <a:ext cx="1520762" cy="3116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45628" y="1493419"/>
            <a:ext cx="1844802" cy="278330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807648" y="1337608"/>
            <a:ext cx="1520762" cy="31162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37687" y="1493419"/>
            <a:ext cx="1844802" cy="278330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799707" y="1337608"/>
            <a:ext cx="1520762" cy="311624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4448" y="1982962"/>
            <a:ext cx="1507958" cy="3683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30"/>
          </a:p>
        </p:txBody>
      </p:sp>
      <p:sp>
        <p:nvSpPr>
          <p:cNvPr id="12" name="Text 1"/>
          <p:cNvSpPr/>
          <p:nvPr/>
        </p:nvSpPr>
        <p:spPr>
          <a:xfrm>
            <a:off x="4818614" y="1982962"/>
            <a:ext cx="1507958" cy="3683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30"/>
          </a:p>
        </p:txBody>
      </p:sp>
      <p:sp>
        <p:nvSpPr>
          <p:cNvPr id="13" name="Text 2"/>
          <p:cNvSpPr/>
          <p:nvPr/>
        </p:nvSpPr>
        <p:spPr>
          <a:xfrm>
            <a:off x="2826550" y="1982962"/>
            <a:ext cx="1507958" cy="3683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30"/>
          </a:p>
        </p:txBody>
      </p:sp>
      <p:sp>
        <p:nvSpPr>
          <p:cNvPr id="14" name="Text 3"/>
          <p:cNvSpPr/>
          <p:nvPr/>
        </p:nvSpPr>
        <p:spPr>
          <a:xfrm>
            <a:off x="6810716" y="1982962"/>
            <a:ext cx="1507958" cy="3683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3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30"/>
          </a:p>
        </p:txBody>
      </p:sp>
      <p:sp>
        <p:nvSpPr>
          <p:cNvPr id="15" name="Text 4"/>
          <p:cNvSpPr/>
          <p:nvPr/>
        </p:nvSpPr>
        <p:spPr>
          <a:xfrm>
            <a:off x="2808320" y="2582228"/>
            <a:ext cx="1544462" cy="1352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17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对各个模块进行单元测试，检查代码的正确性。例如，测试方块的旋转功能、碰撞检测功能等。及时发现和修复代码中的问题，提高代码的稳定性。</a:t>
            </a:r>
            <a:endParaRPr lang="en-US" sz="1170"/>
          </a:p>
        </p:txBody>
      </p:sp>
      <p:sp>
        <p:nvSpPr>
          <p:cNvPr id="16" name="Text 5"/>
          <p:cNvSpPr/>
          <p:nvPr/>
        </p:nvSpPr>
        <p:spPr>
          <a:xfrm>
            <a:off x="892046" y="1374636"/>
            <a:ext cx="139277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编码实现</a:t>
            </a:r>
            <a:endParaRPr lang="en-US" sz="1440"/>
          </a:p>
        </p:txBody>
      </p:sp>
      <p:sp>
        <p:nvSpPr>
          <p:cNvPr id="17" name="Text 6"/>
          <p:cNvSpPr/>
          <p:nvPr/>
        </p:nvSpPr>
        <p:spPr>
          <a:xfrm>
            <a:off x="6868314" y="1374636"/>
            <a:ext cx="139277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用户测试</a:t>
            </a:r>
            <a:endParaRPr lang="en-US" sz="1440"/>
          </a:p>
        </p:txBody>
      </p:sp>
      <p:sp>
        <p:nvSpPr>
          <p:cNvPr id="18" name="Text 7"/>
          <p:cNvSpPr/>
          <p:nvPr/>
        </p:nvSpPr>
        <p:spPr>
          <a:xfrm>
            <a:off x="816218" y="2582228"/>
            <a:ext cx="1544462" cy="14561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26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根据设计文档进行代码编写。使用Java Swing等技术实现游戏的各个功能模块。在编码过程中，要遵循编码规范，保证代码的质量。</a:t>
            </a:r>
            <a:endParaRPr lang="en-US" sz="1260"/>
          </a:p>
        </p:txBody>
      </p:sp>
      <p:sp>
        <p:nvSpPr>
          <p:cNvPr id="19" name="Text 8"/>
          <p:cNvSpPr/>
          <p:nvPr/>
        </p:nvSpPr>
        <p:spPr>
          <a:xfrm>
            <a:off x="2884148" y="1374636"/>
            <a:ext cx="139277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单元测试</a:t>
            </a:r>
            <a:endParaRPr lang="en-US" sz="1440"/>
          </a:p>
        </p:txBody>
      </p:sp>
      <p:sp>
        <p:nvSpPr>
          <p:cNvPr id="20" name="Text 9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开发与测试</a:t>
            </a:r>
            <a:endParaRPr lang="en-US" sz="2010"/>
          </a:p>
        </p:txBody>
      </p:sp>
      <p:sp>
        <p:nvSpPr>
          <p:cNvPr id="21" name="Text 10"/>
          <p:cNvSpPr/>
          <p:nvPr/>
        </p:nvSpPr>
        <p:spPr>
          <a:xfrm>
            <a:off x="4800384" y="2582227"/>
            <a:ext cx="1544462" cy="1248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26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将各个模块进行集成，进行集成测试。检查模块之间的交互是否正常，确保游戏的整体功能能够正常运行。</a:t>
            </a:r>
            <a:endParaRPr lang="en-US" sz="1260"/>
          </a:p>
        </p:txBody>
      </p:sp>
      <p:sp>
        <p:nvSpPr>
          <p:cNvPr id="22" name="Text 11"/>
          <p:cNvSpPr/>
          <p:nvPr/>
        </p:nvSpPr>
        <p:spPr>
          <a:xfrm>
            <a:off x="4876212" y="1374636"/>
            <a:ext cx="1392771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集成测试</a:t>
            </a:r>
            <a:endParaRPr lang="en-US" sz="1440"/>
          </a:p>
        </p:txBody>
      </p:sp>
      <p:sp>
        <p:nvSpPr>
          <p:cNvPr id="23" name="Text 12"/>
          <p:cNvSpPr/>
          <p:nvPr/>
        </p:nvSpPr>
        <p:spPr>
          <a:xfrm>
            <a:off x="6792486" y="2582228"/>
            <a:ext cx="1544462" cy="1248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26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邀请用户进行测试，收集用户的反馈意见。根据用户的建议对游戏进行优化和改进，提高游戏的用户满意度。</a:t>
            </a:r>
            <a:endParaRPr lang="en-US" sz="126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2" animBg="1"/>
      <p:bldP spid="4" grpId="1" animBg="1"/>
      <p:bldP spid="5" grpId="7" animBg="1"/>
      <p:bldP spid="6" grpId="6" animBg="1"/>
      <p:bldP spid="7" grpId="12" animBg="1"/>
      <p:bldP spid="8" grpId="11" animBg="1"/>
      <p:bldP spid="9" grpId="17" animBg="1"/>
      <p:bldP spid="10" grpId="16" animBg="1"/>
      <p:bldP spid="11" grpId="0" animBg="1"/>
      <p:bldP spid="12" grpId="10" animBg="1"/>
      <p:bldP spid="13" grpId="5" animBg="1"/>
      <p:bldP spid="14" grpId="15" animBg="1"/>
      <p:bldP spid="15" grpId="9" animBg="1"/>
      <p:bldP spid="16" grpId="3" animBg="1"/>
      <p:bldP spid="17" grpId="18" animBg="1"/>
      <p:bldP spid="18" grpId="4" animBg="1"/>
      <p:bldP spid="19" grpId="8" animBg="1"/>
      <p:bldP spid="21" grpId="14" animBg="1"/>
      <p:bldP spid="22" grpId="13" animBg="1"/>
      <p:bldP spid="23" grpId="19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8676" y="1591296"/>
            <a:ext cx="3732698" cy="7755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5040" dirty="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08</a:t>
            </a:r>
            <a:endParaRPr lang="en-US" sz="5040" dirty="0"/>
          </a:p>
        </p:txBody>
      </p:sp>
      <p:sp>
        <p:nvSpPr>
          <p:cNvPr id="3" name="Text 1"/>
          <p:cNvSpPr/>
          <p:nvPr/>
        </p:nvSpPr>
        <p:spPr>
          <a:xfrm>
            <a:off x="2707129" y="3122855"/>
            <a:ext cx="3735791" cy="1600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项目亮点、优化方向与学习价值</a:t>
            </a:r>
            <a:endParaRPr lang="en-US" sz="1080"/>
          </a:p>
        </p:txBody>
      </p:sp>
      <p:sp>
        <p:nvSpPr>
          <p:cNvPr id="4" name="Text 2"/>
          <p:cNvSpPr/>
          <p:nvPr/>
        </p:nvSpPr>
        <p:spPr>
          <a:xfrm>
            <a:off x="619772" y="2410465"/>
            <a:ext cx="791050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5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总结与展望</a:t>
            </a:r>
            <a:endParaRPr lang="en-US" sz="351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459502" y="1286943"/>
            <a:ext cx="2224995" cy="2224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3771" y="1117099"/>
            <a:ext cx="593131" cy="59313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42545" y="1105873"/>
            <a:ext cx="615582" cy="6155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11225" y="1174856"/>
            <a:ext cx="478259" cy="47808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96265" y="1259908"/>
            <a:ext cx="307984" cy="3079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70199" y="2909028"/>
            <a:ext cx="593131" cy="59313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158973" y="2897803"/>
            <a:ext cx="615582" cy="6155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227758" y="2966785"/>
            <a:ext cx="478185" cy="47808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312736" y="3051837"/>
            <a:ext cx="307984" cy="30798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039576" y="1117099"/>
            <a:ext cx="593131" cy="59313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8028350" y="1105873"/>
            <a:ext cx="615582" cy="6155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8096994" y="1174856"/>
            <a:ext cx="478185" cy="47808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8182166" y="1259908"/>
            <a:ext cx="307984" cy="30798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378465" y="2909028"/>
            <a:ext cx="593131" cy="59313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367240" y="2897803"/>
            <a:ext cx="615582" cy="6155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7436197" y="2966785"/>
            <a:ext cx="478110" cy="47808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7520940" y="3051837"/>
            <a:ext cx="307984" cy="307984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514407" y="3422071"/>
            <a:ext cx="1729366" cy="742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俄罗斯方块作为经典游戏，拥有广泛的受众基础。通过不断优化和拓展功能，有望吸引更多玩家，在游戏市场中占据一定份额，具有较大的市场潜力。</a:t>
            </a:r>
            <a:endParaRPr lang="en-US" sz="900"/>
          </a:p>
        </p:txBody>
      </p:sp>
      <p:sp>
        <p:nvSpPr>
          <p:cNvPr id="21" name="Text 1"/>
          <p:cNvSpPr/>
          <p:nvPr/>
        </p:nvSpPr>
        <p:spPr>
          <a:xfrm>
            <a:off x="6137451" y="1297100"/>
            <a:ext cx="173152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技术创新</a:t>
            </a:r>
            <a:endParaRPr lang="en-US" sz="1440"/>
          </a:p>
        </p:txBody>
      </p:sp>
      <p:sp>
        <p:nvSpPr>
          <p:cNvPr id="22" name="Text 2"/>
          <p:cNvSpPr/>
          <p:nvPr/>
        </p:nvSpPr>
        <p:spPr>
          <a:xfrm>
            <a:off x="1206358" y="1297100"/>
            <a:ext cx="173152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项目亮点</a:t>
            </a:r>
            <a:endParaRPr lang="en-US" sz="1440"/>
          </a:p>
        </p:txBody>
      </p:sp>
      <p:sp>
        <p:nvSpPr>
          <p:cNvPr id="23" name="Text 3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总结与展望</a:t>
            </a:r>
            <a:endParaRPr lang="en-US" sz="2010"/>
          </a:p>
        </p:txBody>
      </p:sp>
      <p:sp>
        <p:nvSpPr>
          <p:cNvPr id="24" name="Text 4"/>
          <p:cNvSpPr/>
          <p:nvPr/>
        </p:nvSpPr>
        <p:spPr>
          <a:xfrm>
            <a:off x="1960852" y="3422071"/>
            <a:ext cx="1729366" cy="8915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未来可添加音效系统，增强游戏的沉浸感；实现网络排行榜功能，让玩家可以与更多人竞争；增加方块皮肤选择，丰富游戏的视觉效果；开发移动端版本，扩大游戏的受众范围。</a:t>
            </a:r>
            <a:endParaRPr lang="en-US" sz="900"/>
          </a:p>
        </p:txBody>
      </p:sp>
      <p:sp>
        <p:nvSpPr>
          <p:cNvPr id="25" name="Text 5"/>
          <p:cNvSpPr/>
          <p:nvPr/>
        </p:nvSpPr>
        <p:spPr>
          <a:xfrm>
            <a:off x="5513326" y="3076559"/>
            <a:ext cx="173152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市场潜力</a:t>
            </a:r>
            <a:endParaRPr lang="en-US" sz="1440"/>
          </a:p>
        </p:txBody>
      </p:sp>
      <p:sp>
        <p:nvSpPr>
          <p:cNvPr id="26" name="Text 6"/>
          <p:cNvSpPr/>
          <p:nvPr/>
        </p:nvSpPr>
        <p:spPr>
          <a:xfrm>
            <a:off x="6138533" y="1642612"/>
            <a:ext cx="1729366" cy="8915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ct val="130000"/>
              </a:lnSpc>
              <a:buNone/>
            </a:pPr>
            <a:r>
              <a:rPr lang="en-US" sz="108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可以探索新的技术和算法，如使用人工智能优化方块的生成和下落策略，为游戏带来新的玩法和体验，提升游戏的竞争力。</a:t>
            </a:r>
            <a:endParaRPr lang="en-US" sz="1080"/>
          </a:p>
        </p:txBody>
      </p:sp>
      <p:sp>
        <p:nvSpPr>
          <p:cNvPr id="27" name="Text 7"/>
          <p:cNvSpPr/>
          <p:nvPr/>
        </p:nvSpPr>
        <p:spPr>
          <a:xfrm>
            <a:off x="1207439" y="1642612"/>
            <a:ext cx="1729366" cy="742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项目采用模块化设计，将游戏逻辑、界面和数据分离，提高了代码的可维护性和扩展性。具备完整功能，如存档/读档和排行榜系统，增强了游戏的实用性和趣味性。</a:t>
            </a:r>
            <a:endParaRPr lang="en-US" sz="900"/>
          </a:p>
        </p:txBody>
      </p:sp>
      <p:sp>
        <p:nvSpPr>
          <p:cNvPr id="28" name="Text 8"/>
          <p:cNvSpPr/>
          <p:nvPr/>
        </p:nvSpPr>
        <p:spPr>
          <a:xfrm>
            <a:off x="1959771" y="3076559"/>
            <a:ext cx="1731527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优化方向</a:t>
            </a:r>
            <a:endParaRPr lang="en-US" sz="144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25815"/>
            <a:ext cx="332509" cy="3857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2146" y="1837931"/>
            <a:ext cx="1427561" cy="25569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0670" y="1180348"/>
            <a:ext cx="595256" cy="5952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83132" y="1178471"/>
            <a:ext cx="594002" cy="59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763353" y="1837931"/>
            <a:ext cx="1427561" cy="25569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954339" y="1178471"/>
            <a:ext cx="594003" cy="59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834560" y="1837931"/>
            <a:ext cx="1427561" cy="25569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025547" y="1178471"/>
            <a:ext cx="594002" cy="594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905768" y="1837931"/>
            <a:ext cx="1427562" cy="255696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78170" y="1343681"/>
            <a:ext cx="450682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350"/>
          </a:p>
        </p:txBody>
      </p:sp>
      <p:sp>
        <p:nvSpPr>
          <p:cNvPr id="12" name="Text 1"/>
          <p:cNvSpPr/>
          <p:nvPr/>
        </p:nvSpPr>
        <p:spPr>
          <a:xfrm>
            <a:off x="2942008" y="1343681"/>
            <a:ext cx="450682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50"/>
          </a:p>
        </p:txBody>
      </p:sp>
      <p:sp>
        <p:nvSpPr>
          <p:cNvPr id="13" name="Text 2"/>
          <p:cNvSpPr/>
          <p:nvPr/>
        </p:nvSpPr>
        <p:spPr>
          <a:xfrm>
            <a:off x="7084424" y="1343681"/>
            <a:ext cx="459810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"/>
          </a:p>
        </p:txBody>
      </p:sp>
      <p:sp>
        <p:nvSpPr>
          <p:cNvPr id="14" name="Text 3"/>
          <p:cNvSpPr/>
          <p:nvPr/>
        </p:nvSpPr>
        <p:spPr>
          <a:xfrm>
            <a:off x="5013216" y="1343681"/>
            <a:ext cx="468938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50"/>
          </a:p>
        </p:txBody>
      </p:sp>
      <p:sp>
        <p:nvSpPr>
          <p:cNvPr id="15" name="Text 4"/>
          <p:cNvSpPr/>
          <p:nvPr/>
        </p:nvSpPr>
        <p:spPr>
          <a:xfrm>
            <a:off x="7027700" y="2117252"/>
            <a:ext cx="1192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技术实践</a:t>
            </a:r>
            <a:endParaRPr lang="en-US" sz="1440"/>
          </a:p>
        </p:txBody>
      </p:sp>
      <p:sp>
        <p:nvSpPr>
          <p:cNvPr id="16" name="Text 5"/>
          <p:cNvSpPr/>
          <p:nvPr/>
        </p:nvSpPr>
        <p:spPr>
          <a:xfrm>
            <a:off x="814078" y="2117252"/>
            <a:ext cx="1192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项目管理经验</a:t>
            </a:r>
            <a:endParaRPr lang="en-US" sz="1440"/>
          </a:p>
        </p:txBody>
      </p:sp>
      <p:sp>
        <p:nvSpPr>
          <p:cNvPr id="17" name="Text 6"/>
          <p:cNvSpPr/>
          <p:nvPr/>
        </p:nvSpPr>
        <p:spPr>
          <a:xfrm>
            <a:off x="815158" y="2501605"/>
            <a:ext cx="1190680" cy="1307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参与项目的整个流程，包括需求分析、设计、开发和测试，可积累项目管理经验。学会如何制定计划、分配任务和控制进度，提高团队协作能力。</a:t>
            </a:r>
            <a:endParaRPr lang="en-US" sz="990"/>
          </a:p>
        </p:txBody>
      </p:sp>
      <p:sp>
        <p:nvSpPr>
          <p:cNvPr id="18" name="Text 7"/>
          <p:cNvSpPr/>
          <p:nvPr/>
        </p:nvSpPr>
        <p:spPr>
          <a:xfrm>
            <a:off x="406365" y="373453"/>
            <a:ext cx="8466627" cy="30632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01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学习价值</a:t>
            </a:r>
            <a:endParaRPr lang="en-US" sz="2010"/>
          </a:p>
        </p:txBody>
      </p:sp>
      <p:sp>
        <p:nvSpPr>
          <p:cNvPr id="19" name="Text 8"/>
          <p:cNvSpPr/>
          <p:nvPr/>
        </p:nvSpPr>
        <p:spPr>
          <a:xfrm>
            <a:off x="2886366" y="2501605"/>
            <a:ext cx="1190680" cy="1428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08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在开发过程中，会遇到各种问题，如碰撞检测不准确、界面显示异常等。通过解决这些问题，可提高自己的问题解决能力和调试技巧。</a:t>
            </a:r>
            <a:endParaRPr lang="en-US" sz="1080"/>
          </a:p>
        </p:txBody>
      </p:sp>
      <p:sp>
        <p:nvSpPr>
          <p:cNvPr id="20" name="Text 9"/>
          <p:cNvSpPr/>
          <p:nvPr/>
        </p:nvSpPr>
        <p:spPr>
          <a:xfrm>
            <a:off x="4956492" y="2117252"/>
            <a:ext cx="1192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设计思想</a:t>
            </a:r>
            <a:endParaRPr lang="en-US" sz="1440"/>
          </a:p>
        </p:txBody>
      </p:sp>
      <p:sp>
        <p:nvSpPr>
          <p:cNvPr id="21" name="Text 10"/>
          <p:cNvSpPr/>
          <p:nvPr/>
        </p:nvSpPr>
        <p:spPr>
          <a:xfrm>
            <a:off x="2885285" y="2117252"/>
            <a:ext cx="1192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40" b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问题解决能力</a:t>
            </a:r>
            <a:endParaRPr lang="en-US" sz="1440"/>
          </a:p>
        </p:txBody>
      </p:sp>
      <p:sp>
        <p:nvSpPr>
          <p:cNvPr id="22" name="Text 11"/>
          <p:cNvSpPr/>
          <p:nvPr/>
        </p:nvSpPr>
        <p:spPr>
          <a:xfrm>
            <a:off x="7028781" y="2501605"/>
            <a:ext cx="1190680" cy="14710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99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通过该项目，可进行Swing图形编程实践，掌握游戏界面的开发方法；了解游戏循环实现原理，学会处理游戏的实时逻辑；掌握文件序列化技术，实现数据的存储和读取。</a:t>
            </a:r>
            <a:endParaRPr lang="en-US" sz="990"/>
          </a:p>
        </p:txBody>
      </p:sp>
      <p:sp>
        <p:nvSpPr>
          <p:cNvPr id="23" name="Text 12"/>
          <p:cNvSpPr/>
          <p:nvPr/>
        </p:nvSpPr>
        <p:spPr>
          <a:xfrm>
            <a:off x="4957573" y="2501605"/>
            <a:ext cx="1190680" cy="1428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080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应用面向对象设计思想，将游戏的各个功能封装成类，提高代码的可维护性和扩展性。学会如何进行类的设计和模块的划分，提升软件设计能力。</a:t>
            </a:r>
            <a:endParaRPr lang="en-US" sz="108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7" animBg="1"/>
      <p:bldP spid="4" grpId="15" animBg="1"/>
      <p:bldP spid="5" grpId="10" animBg="1"/>
      <p:bldP spid="6" grpId="12" animBg="1"/>
      <p:bldP spid="7" grpId="5" animBg="1"/>
      <p:bldP spid="8" grpId="7" animBg="1"/>
      <p:bldP spid="9" grpId="0" animBg="1"/>
      <p:bldP spid="10" grpId="2" animBg="1"/>
      <p:bldP spid="11" grpId="16" animBg="1"/>
      <p:bldP spid="12" grpId="11" animBg="1"/>
      <p:bldP spid="13" grpId="1" animBg="1"/>
      <p:bldP spid="14" grpId="6" animBg="1"/>
      <p:bldP spid="15" grpId="3" animBg="1"/>
      <p:bldP spid="16" grpId="18" animBg="1"/>
      <p:bldP spid="17" grpId="19" animBg="1"/>
      <p:bldP spid="19" grpId="14" animBg="1"/>
      <p:bldP spid="20" grpId="8" animBg="1"/>
      <p:bldP spid="21" grpId="13" animBg="1"/>
      <p:bldP spid="22" grpId="4" animBg="1"/>
      <p:bldP spid="23" grpId="9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874" y="2247643"/>
            <a:ext cx="7589394" cy="7086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4680">
                <a:solidFill>
                  <a:srgbClr val="000000"/>
                </a:solidFill>
                <a:latin typeface="思源黑体 CN Normal" pitchFamily="34" charset="0"/>
                <a:ea typeface="思源黑体 CN Normal" pitchFamily="34" charset="-122"/>
                <a:cs typeface="思源黑体 CN Normal" pitchFamily="34" charset="-120"/>
              </a:rPr>
              <a:t>谢谢观看</a:t>
            </a:r>
            <a:endParaRPr lang="en-US" sz="468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3.10 unknown"/>
  <p:tag name="AS_OS" val="Unix 3.10 unknown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Ethi" typeface="Nyala"/>
        <a:font script="Talu" typeface="Microsoft New Tai Lue"/>
        <a:font script="Olck" typeface="Nirmala UI"/>
        <a:font script="Yiii" typeface="Microsoft Yi Baiti"/>
        <a:font script="Uigh" typeface="Microsoft Uighur"/>
        <a:font script="Hebr" typeface="Times New Roman"/>
        <a:font script="Tibt" typeface="Microsoft Himalaya"/>
        <a:font script="Telu" typeface="Gautami"/>
        <a:font script="Armn" typeface="Arial"/>
        <a:font script="Deva" typeface="Mangal"/>
        <a:font script="Guru" typeface="Raavi"/>
        <a:font script="Sinh" typeface="Iskoola Pota"/>
        <a:font script="Phag" typeface="Phagspa"/>
        <a:font script="Tale" typeface="Microsoft Tai Le"/>
        <a:font script="Lisu" typeface="Segoe UI"/>
        <a:font script="Beng" typeface="Vrinda"/>
        <a:font script="Syrj" typeface="Estrangelo Edessa"/>
        <a:font script="Syre" typeface="Estrangelo Edessa"/>
        <a:font script="Syrc" typeface="Estrangelo Edessa"/>
        <a:font script="Cher" typeface="Plantagenet Cherokee"/>
        <a:font script="Viet" typeface="Times New Roman"/>
        <a:font script="Thai" typeface="Angsana New"/>
        <a:font script="Gujr" typeface="Shruti"/>
        <a:font script="Mlym" typeface="Kartika"/>
        <a:font script="Hant" typeface="新細明體"/>
        <a:font script="Hans" typeface="等线 Light"/>
        <a:font script="Java" typeface="Javanese Text"/>
        <a:font script="Thaa" typeface="MV Boli"/>
        <a:font script="Knda" typeface="Tunga"/>
        <a:font script="Mymr" typeface="Myanmar Text"/>
        <a:font script="Laoo" typeface="DokChampa"/>
        <a:font script="Cans" typeface="Euphemia"/>
        <a:font script="Hang" typeface="맑은 고딕"/>
        <a:font script="Sora" typeface="Nirmala UI"/>
        <a:font script="Tfng" typeface="Ebrima"/>
        <a:font script="Khmr" typeface="MoolBoran"/>
        <a:font script="Arab" typeface="Times New Roman"/>
        <a:font script="Geor" typeface="Sylfaen"/>
        <a:font script="Bugi" typeface="Leelawadee UI"/>
        <a:font script="Bopo" typeface="Microsoft JhengHei"/>
        <a:font script="Jpan" typeface="游ゴシック Light"/>
        <a:font script="Mong" typeface="Mongolian Baiti"/>
        <a:font script="Taml" typeface="Latha"/>
        <a:font script="Orya" typeface="Kalinga"/>
        <a:font script="Syrn" typeface="Estrangelo Edessa"/>
        <a:font script="Osma" typeface="Ebrima"/>
        <a:font script="Nkoo" typeface="Ebrima"/>
      </a:majorFont>
      <a:minorFont>
        <a:latin typeface="Calibri" panose="020F0502020204030204"/>
        <a:ea typeface=""/>
        <a:cs typeface=""/>
        <a:font script="Ethi" typeface="Nyala"/>
        <a:font script="Talu" typeface="Microsoft New Tai Lue"/>
        <a:font script="Olck" typeface="Nirmala UI"/>
        <a:font script="Yiii" typeface="Microsoft Yi Baiti"/>
        <a:font script="Uigh" typeface="Microsoft Uighur"/>
        <a:font script="Hebr" typeface="Arial"/>
        <a:font script="Tibt" typeface="Microsoft Himalaya"/>
        <a:font script="Telu" typeface="Gautami"/>
        <a:font script="Armn" typeface="Arial"/>
        <a:font script="Deva" typeface="Mangal"/>
        <a:font script="Guru" typeface="Raavi"/>
        <a:font script="Sinh" typeface="Iskoola Pota"/>
        <a:font script="Phag" typeface="Phagspa"/>
        <a:font script="Tale" typeface="Microsoft Tai Le"/>
        <a:font script="Lisu" typeface="Segoe UI"/>
        <a:font script="Beng" typeface="Vrinda"/>
        <a:font script="Syrj" typeface="Estrangelo Edessa"/>
        <a:font script="Syre" typeface="Estrangelo Edessa"/>
        <a:font script="Syrc" typeface="Estrangelo Edessa"/>
        <a:font script="Cher" typeface="Plantagenet Cherokee"/>
        <a:font script="Viet" typeface="Arial"/>
        <a:font script="Thai" typeface="Cordia New"/>
        <a:font script="Gujr" typeface="Shruti"/>
        <a:font script="Mlym" typeface="Kartika"/>
        <a:font script="Hant" typeface="新細明體"/>
        <a:font script="Hans" typeface="等线"/>
        <a:font script="Java" typeface="Javanese Text"/>
        <a:font script="Thaa" typeface="MV Boli"/>
        <a:font script="Knda" typeface="Tunga"/>
        <a:font script="Mymr" typeface="Myanmar Text"/>
        <a:font script="Laoo" typeface="DokChampa"/>
        <a:font script="Cans" typeface="Euphemia"/>
        <a:font script="Hang" typeface="맑은 고딕"/>
        <a:font script="Sora" typeface="Nirmala UI"/>
        <a:font script="Tfng" typeface="Ebrima"/>
        <a:font script="Khmr" typeface="DaunPenh"/>
        <a:font script="Arab" typeface="Arial"/>
        <a:font script="Geor" typeface="Sylfaen"/>
        <a:font script="Bugi" typeface="Leelawadee UI"/>
        <a:font script="Bopo" typeface="Microsoft JhengHei"/>
        <a:font script="Jpan" typeface="游ゴシック"/>
        <a:font script="Mong" typeface="Mongolian Baiti"/>
        <a:font script="Taml" typeface="Latha"/>
        <a:font script="Orya" typeface="Kalinga"/>
        <a:font script="Syrn" typeface="Estrangelo Edessa"/>
        <a:font script="Osma" typeface="Ebrima"/>
        <a:font script="Nkoo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Ethi" typeface="Nyala"/>
        <a:font script="Talu" typeface="Microsoft New Tai Lue"/>
        <a:font script="Olck" typeface="Nirmala UI"/>
        <a:font script="Yiii" typeface="Microsoft Yi Baiti"/>
        <a:font script="Uigh" typeface="Microsoft Uighur"/>
        <a:font script="Hebr" typeface="Times New Roman"/>
        <a:font script="Tibt" typeface="Microsoft Himalaya"/>
        <a:font script="Telu" typeface="Gautami"/>
        <a:font script="Armn" typeface="Arial"/>
        <a:font script="Deva" typeface="Mangal"/>
        <a:font script="Guru" typeface="Raavi"/>
        <a:font script="Sinh" typeface="Iskoola Pota"/>
        <a:font script="Phag" typeface="Phagspa"/>
        <a:font script="Tale" typeface="Microsoft Tai Le"/>
        <a:font script="Lisu" typeface="Segoe UI"/>
        <a:font script="Beng" typeface="Vrinda"/>
        <a:font script="Syrj" typeface="Estrangelo Edessa"/>
        <a:font script="Syre" typeface="Estrangelo Edessa"/>
        <a:font script="Syrc" typeface="Estrangelo Edessa"/>
        <a:font script="Cher" typeface="Plantagenet Cherokee"/>
        <a:font script="Viet" typeface="Times New Roman"/>
        <a:font script="Thai" typeface="Angsana New"/>
        <a:font script="Gujr" typeface="Shruti"/>
        <a:font script="Mlym" typeface="Kartika"/>
        <a:font script="Hant" typeface="新細明體"/>
        <a:font script="Hans" typeface="等线 Light"/>
        <a:font script="Java" typeface="Javanese Text"/>
        <a:font script="Thaa" typeface="MV Boli"/>
        <a:font script="Knda" typeface="Tunga"/>
        <a:font script="Mymr" typeface="Myanmar Text"/>
        <a:font script="Laoo" typeface="DokChampa"/>
        <a:font script="Cans" typeface="Euphemia"/>
        <a:font script="Hang" typeface="맑은 고딕"/>
        <a:font script="Sora" typeface="Nirmala UI"/>
        <a:font script="Tfng" typeface="Ebrima"/>
        <a:font script="Khmr" typeface="MoolBoran"/>
        <a:font script="Arab" typeface="Times New Roman"/>
        <a:font script="Geor" typeface="Sylfaen"/>
        <a:font script="Bugi" typeface="Leelawadee UI"/>
        <a:font script="Bopo" typeface="Microsoft JhengHei"/>
        <a:font script="Jpan" typeface="游ゴシック Light"/>
        <a:font script="Mong" typeface="Mongolian Baiti"/>
        <a:font script="Taml" typeface="Latha"/>
        <a:font script="Orya" typeface="Kalinga"/>
        <a:font script="Syrn" typeface="Estrangelo Edessa"/>
        <a:font script="Osma" typeface="Ebrima"/>
        <a:font script="Nkoo" typeface="Ebrima"/>
      </a:majorFont>
      <a:minorFont>
        <a:latin typeface="Calibri" panose="020F0502020204030204"/>
        <a:ea typeface=""/>
        <a:cs typeface=""/>
        <a:font script="Ethi" typeface="Nyala"/>
        <a:font script="Talu" typeface="Microsoft New Tai Lue"/>
        <a:font script="Olck" typeface="Nirmala UI"/>
        <a:font script="Yiii" typeface="Microsoft Yi Baiti"/>
        <a:font script="Uigh" typeface="Microsoft Uighur"/>
        <a:font script="Hebr" typeface="Arial"/>
        <a:font script="Tibt" typeface="Microsoft Himalaya"/>
        <a:font script="Telu" typeface="Gautami"/>
        <a:font script="Armn" typeface="Arial"/>
        <a:font script="Deva" typeface="Mangal"/>
        <a:font script="Guru" typeface="Raavi"/>
        <a:font script="Sinh" typeface="Iskoola Pota"/>
        <a:font script="Phag" typeface="Phagspa"/>
        <a:font script="Tale" typeface="Microsoft Tai Le"/>
        <a:font script="Lisu" typeface="Segoe UI"/>
        <a:font script="Beng" typeface="Vrinda"/>
        <a:font script="Syrj" typeface="Estrangelo Edessa"/>
        <a:font script="Syre" typeface="Estrangelo Edessa"/>
        <a:font script="Syrc" typeface="Estrangelo Edessa"/>
        <a:font script="Cher" typeface="Plantagenet Cherokee"/>
        <a:font script="Viet" typeface="Arial"/>
        <a:font script="Thai" typeface="Cordia New"/>
        <a:font script="Gujr" typeface="Shruti"/>
        <a:font script="Mlym" typeface="Kartika"/>
        <a:font script="Hant" typeface="新細明體"/>
        <a:font script="Hans" typeface="等线"/>
        <a:font script="Java" typeface="Javanese Text"/>
        <a:font script="Thaa" typeface="MV Boli"/>
        <a:font script="Knda" typeface="Tunga"/>
        <a:font script="Mymr" typeface="Myanmar Text"/>
        <a:font script="Laoo" typeface="DokChampa"/>
        <a:font script="Cans" typeface="Euphemia"/>
        <a:font script="Hang" typeface="맑은 고딕"/>
        <a:font script="Sora" typeface="Nirmala UI"/>
        <a:font script="Tfng" typeface="Ebrima"/>
        <a:font script="Khmr" typeface="DaunPenh"/>
        <a:font script="Arab" typeface="Arial"/>
        <a:font script="Geor" typeface="Sylfaen"/>
        <a:font script="Bugi" typeface="Leelawadee UI"/>
        <a:font script="Bopo" typeface="Microsoft JhengHei"/>
        <a:font script="Jpan" typeface="游ゴシック"/>
        <a:font script="Mong" typeface="Mongolian Baiti"/>
        <a:font script="Taml" typeface="Latha"/>
        <a:font script="Orya" typeface="Kalinga"/>
        <a:font script="Syrn" typeface="Estrangelo Edessa"/>
        <a:font script="Osma" typeface="Ebrima"/>
        <a:font script="Nkoo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889</Words>
  <Application>Microsoft Office PowerPoint</Application>
  <PresentationFormat>全屏显示(16:9)</PresentationFormat>
  <Paragraphs>201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Source Han Sans SC Normal</vt:lpstr>
      <vt:lpstr>SourceHanSansCN-Regular</vt:lpstr>
      <vt:lpstr>思源黑体 CN</vt:lpstr>
      <vt:lpstr>思源黑体 CN Normal</vt:lpstr>
      <vt:lpstr>微软雅黑</vt:lpstr>
      <vt:lpstr>Arial</vt:lpstr>
      <vt:lpstr>Calibri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哲 陈</cp:lastModifiedBy>
  <cp:revision>5</cp:revision>
  <dcterms:created xsi:type="dcterms:W3CDTF">2025-06-22T13:46:20Z</dcterms:created>
  <dcterms:modified xsi:type="dcterms:W3CDTF">2025-06-24T01:57:30Z</dcterms:modified>
</cp:coreProperties>
</file>